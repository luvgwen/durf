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7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8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9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0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2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3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14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d6621e145d4e9e" /><Relationship Type="http://schemas.openxmlformats.org/officeDocument/2006/relationships/extended-properties" Target="/docProps/app.xml" Id="R91f5b0bf69f94df4" /><Relationship Type="http://schemas.openxmlformats.org/officeDocument/2006/relationships/officeDocument" Target="/ppt/presentation.xml" Id="Raef04cd9970c45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2a5b9a7cbc4a08"/>
  </p:sldMasterIdLst>
  <p:notesMasterIdLst>
    <p:notesMasterId xmlns:r="http://schemas.openxmlformats.org/officeDocument/2006/relationships" r:id="Rf5b58771a0c14681"/>
  </p:notesMasterIdLst>
  <p:sldIdLst>
    <p:sldId xmlns:r="http://schemas.openxmlformats.org/officeDocument/2006/relationships" id="256" r:id="R6735e8d76a0848a6"/>
    <p:sldId xmlns:r="http://schemas.openxmlformats.org/officeDocument/2006/relationships" id="257" r:id="Rd9614005eab844cf"/>
    <p:sldId xmlns:r="http://schemas.openxmlformats.org/officeDocument/2006/relationships" id="258" r:id="Rf9a2d2ca905548af"/>
    <p:sldId xmlns:r="http://schemas.openxmlformats.org/officeDocument/2006/relationships" id="259" r:id="R0d825500fd064465"/>
    <p:sldId xmlns:r="http://schemas.openxmlformats.org/officeDocument/2006/relationships" id="260" r:id="R91ba41d5e3234740"/>
    <p:sldId xmlns:r="http://schemas.openxmlformats.org/officeDocument/2006/relationships" id="261" r:id="Rc8379fe0f2434d67"/>
    <p:sldId xmlns:r="http://schemas.openxmlformats.org/officeDocument/2006/relationships" id="262" r:id="R01f7ca0af59e4618"/>
    <p:sldId xmlns:r="http://schemas.openxmlformats.org/officeDocument/2006/relationships" id="263" r:id="R873e1e5fa0454f22"/>
    <p:sldId xmlns:r="http://schemas.openxmlformats.org/officeDocument/2006/relationships" id="264" r:id="Rc76cd37f9fc74ec8"/>
    <p:sldId xmlns:r="http://schemas.openxmlformats.org/officeDocument/2006/relationships" id="265" r:id="Rfccaf50df1194c23"/>
    <p:sldId xmlns:r="http://schemas.openxmlformats.org/officeDocument/2006/relationships" id="266" r:id="R13fff46d34d44a8c"/>
    <p:sldId xmlns:r="http://schemas.openxmlformats.org/officeDocument/2006/relationships" id="267" r:id="R1a3c22eed11a4a75"/>
    <p:sldId xmlns:r="http://schemas.openxmlformats.org/officeDocument/2006/relationships" id="268" r:id="R042c8b2cc11b4d01"/>
    <p:sldId xmlns:r="http://schemas.openxmlformats.org/officeDocument/2006/relationships" id="269" r:id="Raca3bfd1babf4c38"/>
    <p:sldId xmlns:r="http://schemas.openxmlformats.org/officeDocument/2006/relationships" id="270" r:id="Raa6035d5ea204aaa"/>
    <p:sldId xmlns:r="http://schemas.openxmlformats.org/officeDocument/2006/relationships" id="271" r:id="R319a039af9c343bc"/>
    <p:sldId xmlns:r="http://schemas.openxmlformats.org/officeDocument/2006/relationships" id="272" r:id="R77f455dc62fc462f"/>
    <p:sldId xmlns:r="http://schemas.openxmlformats.org/officeDocument/2006/relationships" id="273" r:id="R3f162dfa72ab4b70"/>
    <p:sldId xmlns:r="http://schemas.openxmlformats.org/officeDocument/2006/relationships" id="274" r:id="Re21692af91bc4dd6"/>
    <p:sldId xmlns:r="http://schemas.openxmlformats.org/officeDocument/2006/relationships" id="275" r:id="R9da5aa7d05b248b7"/>
    <p:sldId xmlns:r="http://schemas.openxmlformats.org/officeDocument/2006/relationships" id="276" r:id="Rc41eaddd188247f6"/>
    <p:sldId xmlns:r="http://schemas.openxmlformats.org/officeDocument/2006/relationships" id="277" r:id="Reecf77087a444f72"/>
    <p:sldId xmlns:r="http://schemas.openxmlformats.org/officeDocument/2006/relationships" id="278" r:id="Ra44c76e62cac4a62"/>
    <p:sldId xmlns:r="http://schemas.openxmlformats.org/officeDocument/2006/relationships" id="279" r:id="R1225ad28b10042ed"/>
    <p:sldId xmlns:r="http://schemas.openxmlformats.org/officeDocument/2006/relationships" id="280" r:id="Rbccd0dbf019443de"/>
    <p:sldId xmlns:r="http://schemas.openxmlformats.org/officeDocument/2006/relationships" id="281" r:id="Rc2ddfaf49b584e92"/>
    <p:sldId xmlns:r="http://schemas.openxmlformats.org/officeDocument/2006/relationships" id="282" r:id="Red3ba1ebed334891"/>
    <p:sldId xmlns:r="http://schemas.openxmlformats.org/officeDocument/2006/relationships" id="283" r:id="R15467b5389c74405"/>
    <p:sldId xmlns:r="http://schemas.openxmlformats.org/officeDocument/2006/relationships" id="284" r:id="R9f6cae7dfc994359"/>
    <p:sldId xmlns:r="http://schemas.openxmlformats.org/officeDocument/2006/relationships" id="285" r:id="Ra75edf978d9c4e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892c434a9f4671" /><Relationship Type="http://schemas.openxmlformats.org/officeDocument/2006/relationships/slideMaster" Target="/ppt/slideMasters/slideMaster1.xml" Id="R5e2a5b9a7cbc4a08" /><Relationship Type="http://schemas.openxmlformats.org/officeDocument/2006/relationships/notesMaster" Target="/ppt/notesMasters/notesMaster1.xml" Id="Rf5b58771a0c14681" /><Relationship Type="http://schemas.openxmlformats.org/officeDocument/2006/relationships/presProps" Target="/ppt/presProps.xml" Id="R0260f21b8fb049bf" /><Relationship Type="http://schemas.openxmlformats.org/officeDocument/2006/relationships/tableStyles" Target="/ppt/tableStyles.xml" Id="R78d90dff5d2b4617" /><Relationship Type="http://schemas.openxmlformats.org/officeDocument/2006/relationships/slide" Target="/ppt/slides/slide1.xml" Id="R6735e8d76a0848a6" /><Relationship Type="http://schemas.openxmlformats.org/officeDocument/2006/relationships/slide" Target="/ppt/slides/slide2.xml" Id="Rd9614005eab844cf" /><Relationship Type="http://schemas.openxmlformats.org/officeDocument/2006/relationships/slide" Target="/ppt/slides/slide3.xml" Id="Rf9a2d2ca905548af" /><Relationship Type="http://schemas.openxmlformats.org/officeDocument/2006/relationships/slide" Target="/ppt/slides/slide4.xml" Id="R0d825500fd064465" /><Relationship Type="http://schemas.openxmlformats.org/officeDocument/2006/relationships/slide" Target="/ppt/slides/slide5.xml" Id="R91ba41d5e3234740" /><Relationship Type="http://schemas.openxmlformats.org/officeDocument/2006/relationships/slide" Target="/ppt/slides/slide6.xml" Id="Rc8379fe0f2434d67" /><Relationship Type="http://schemas.openxmlformats.org/officeDocument/2006/relationships/slide" Target="/ppt/slides/slide7.xml" Id="R01f7ca0af59e4618" /><Relationship Type="http://schemas.openxmlformats.org/officeDocument/2006/relationships/slide" Target="/ppt/slides/slide8.xml" Id="R873e1e5fa0454f22" /><Relationship Type="http://schemas.openxmlformats.org/officeDocument/2006/relationships/slide" Target="/ppt/slides/slide9.xml" Id="Rc76cd37f9fc74ec8" /><Relationship Type="http://schemas.openxmlformats.org/officeDocument/2006/relationships/slide" Target="/ppt/slides/slide10.xml" Id="Rfccaf50df1194c23" /><Relationship Type="http://schemas.openxmlformats.org/officeDocument/2006/relationships/slide" Target="/ppt/slides/slide11.xml" Id="R13fff46d34d44a8c" /><Relationship Type="http://schemas.openxmlformats.org/officeDocument/2006/relationships/slide" Target="/ppt/slides/slide12.xml" Id="R1a3c22eed11a4a75" /><Relationship Type="http://schemas.openxmlformats.org/officeDocument/2006/relationships/slide" Target="/ppt/slides/slide13.xml" Id="R042c8b2cc11b4d01" /><Relationship Type="http://schemas.openxmlformats.org/officeDocument/2006/relationships/slide" Target="/ppt/slides/slide14.xml" Id="Raca3bfd1babf4c38" /><Relationship Type="http://schemas.openxmlformats.org/officeDocument/2006/relationships/slide" Target="/ppt/slides/slide15.xml" Id="Raa6035d5ea204aaa" /><Relationship Type="http://schemas.openxmlformats.org/officeDocument/2006/relationships/slide" Target="/ppt/slides/slide16.xml" Id="R319a039af9c343bc" /><Relationship Type="http://schemas.openxmlformats.org/officeDocument/2006/relationships/slide" Target="/ppt/slides/slide17.xml" Id="R77f455dc62fc462f" /><Relationship Type="http://schemas.openxmlformats.org/officeDocument/2006/relationships/slide" Target="/ppt/slides/slide18.xml" Id="R3f162dfa72ab4b70" /><Relationship Type="http://schemas.openxmlformats.org/officeDocument/2006/relationships/slide" Target="/ppt/slides/slide19.xml" Id="Re21692af91bc4dd6" /><Relationship Type="http://schemas.openxmlformats.org/officeDocument/2006/relationships/slide" Target="/ppt/slides/slide20.xml" Id="R9da5aa7d05b248b7" /><Relationship Type="http://schemas.openxmlformats.org/officeDocument/2006/relationships/slide" Target="/ppt/slides/slide21.xml" Id="Rc41eaddd188247f6" /><Relationship Type="http://schemas.openxmlformats.org/officeDocument/2006/relationships/slide" Target="/ppt/slides/slide22.xml" Id="Reecf77087a444f72" /><Relationship Type="http://schemas.openxmlformats.org/officeDocument/2006/relationships/slide" Target="/ppt/slides/slide23.xml" Id="Ra44c76e62cac4a62" /><Relationship Type="http://schemas.openxmlformats.org/officeDocument/2006/relationships/slide" Target="/ppt/slides/slide24.xml" Id="R1225ad28b10042ed" /><Relationship Type="http://schemas.openxmlformats.org/officeDocument/2006/relationships/slide" Target="/ppt/slides/slide25.xml" Id="Rbccd0dbf019443de" /><Relationship Type="http://schemas.openxmlformats.org/officeDocument/2006/relationships/slide" Target="/ppt/slides/slide26.xml" Id="Rc2ddfaf49b584e92" /><Relationship Type="http://schemas.openxmlformats.org/officeDocument/2006/relationships/slide" Target="/ppt/slides/slide27.xml" Id="Red3ba1ebed334891" /><Relationship Type="http://schemas.openxmlformats.org/officeDocument/2006/relationships/slide" Target="/ppt/slides/slide28.xml" Id="R15467b5389c74405" /><Relationship Type="http://schemas.openxmlformats.org/officeDocument/2006/relationships/slide" Target="/ppt/slides/slide29.xml" Id="R9f6cae7dfc994359" /><Relationship Type="http://schemas.openxmlformats.org/officeDocument/2006/relationships/slide" Target="/ppt/slides/slide30.xml" Id="Ra75edf978d9c4e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f2d6a602b34c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094f70cd434816" /><Relationship Type="http://schemas.openxmlformats.org/officeDocument/2006/relationships/notesMaster" Target="/ppt/notesMasters/notesMaster1.xml" Id="Rff0fcbd3ff3744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3004198d5141a3" /><Relationship Type="http://schemas.openxmlformats.org/officeDocument/2006/relationships/notesMaster" Target="/ppt/notesMasters/notesMaster1.xml" Id="R1d03b613d16246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228f902af84c9f" /><Relationship Type="http://schemas.openxmlformats.org/officeDocument/2006/relationships/notesMaster" Target="/ppt/notesMasters/notesMaster1.xml" Id="R84f8a73d769d4f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73433ec887435a" /><Relationship Type="http://schemas.openxmlformats.org/officeDocument/2006/relationships/notesMaster" Target="/ppt/notesMasters/notesMaster1.xml" Id="R38a03270abcf4a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c11d2fd62d4e65" /><Relationship Type="http://schemas.openxmlformats.org/officeDocument/2006/relationships/notesMaster" Target="/ppt/notesMasters/notesMaster1.xml" Id="R99c45e589bb948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dc2c9c66544077" /><Relationship Type="http://schemas.openxmlformats.org/officeDocument/2006/relationships/notesMaster" Target="/ppt/notesMasters/notesMaster1.xml" Id="R0e39956eace349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cb1dce22064980" /><Relationship Type="http://schemas.openxmlformats.org/officeDocument/2006/relationships/notesMaster" Target="/ppt/notesMasters/notesMaster1.xml" Id="R1dff1dd7abfb4c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723b0c72cf4dd5" /><Relationship Type="http://schemas.openxmlformats.org/officeDocument/2006/relationships/notesMaster" Target="/ppt/notesMasters/notesMaster1.xml" Id="Rda83d218704741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afad33209849d2" /><Relationship Type="http://schemas.openxmlformats.org/officeDocument/2006/relationships/notesMaster" Target="/ppt/notesMasters/notesMaster1.xml" Id="R84018f3eafa244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02013efa2c4e44" /><Relationship Type="http://schemas.openxmlformats.org/officeDocument/2006/relationships/notesMaster" Target="/ppt/notesMasters/notesMaster1.xml" Id="Refdbfd39c73649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6b648a29f74b92" /><Relationship Type="http://schemas.openxmlformats.org/officeDocument/2006/relationships/notesMaster" Target="/ppt/notesMasters/notesMaster1.xml" Id="R75a5417c3a7f4a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e1867806f6460b" /><Relationship Type="http://schemas.openxmlformats.org/officeDocument/2006/relationships/notesMaster" Target="/ppt/notesMasters/notesMaster1.xml" Id="R9b4f1052d5484d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cc7a9112f84a51" /><Relationship Type="http://schemas.openxmlformats.org/officeDocument/2006/relationships/notesMaster" Target="/ppt/notesMasters/notesMaster1.xml" Id="R64507ff12a8e4f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1cb612371f4e7e" /><Relationship Type="http://schemas.openxmlformats.org/officeDocument/2006/relationships/notesMaster" Target="/ppt/notesMasters/notesMaster1.xml" Id="Rcd1b22b457d643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c798d2b3f343f3" /><Relationship Type="http://schemas.openxmlformats.org/officeDocument/2006/relationships/notesMaster" Target="/ppt/notesMasters/notesMaster1.xml" Id="R393cf71ebd484c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94e49cf2e84924" /><Relationship Type="http://schemas.openxmlformats.org/officeDocument/2006/relationships/notesMaster" Target="/ppt/notesMasters/notesMaster1.xml" Id="R482dfa8eafaf4e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e2e9de865b4399" /><Relationship Type="http://schemas.openxmlformats.org/officeDocument/2006/relationships/notesMaster" Target="/ppt/notesMasters/notesMaster1.xml" Id="R4721cd271ea841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25e9ca24cb4e67" /><Relationship Type="http://schemas.openxmlformats.org/officeDocument/2006/relationships/notesMaster" Target="/ppt/notesMasters/notesMaster1.xml" Id="R536603b881b443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14efa000444570" /><Relationship Type="http://schemas.openxmlformats.org/officeDocument/2006/relationships/notesMaster" Target="/ppt/notesMasters/notesMaster1.xml" Id="Rc832f508fd0741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105abd83b6429b" /><Relationship Type="http://schemas.openxmlformats.org/officeDocument/2006/relationships/notesMaster" Target="/ppt/notesMasters/notesMaster1.xml" Id="R7ecbbc53441342a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87224573bc4ac2" /><Relationship Type="http://schemas.openxmlformats.org/officeDocument/2006/relationships/notesMaster" Target="/ppt/notesMasters/notesMaster1.xml" Id="R92e2e21cffe64e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43b3195f8be4290" /><Relationship Type="http://schemas.openxmlformats.org/officeDocument/2006/relationships/notesMaster" Target="/ppt/notesMasters/notesMaster1.xml" Id="R6d3ac629d92647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6bcc092ee1496c" /><Relationship Type="http://schemas.openxmlformats.org/officeDocument/2006/relationships/notesMaster" Target="/ppt/notesMasters/notesMaster1.xml" Id="R27268133acf5475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78d31098be490a" /><Relationship Type="http://schemas.openxmlformats.org/officeDocument/2006/relationships/notesMaster" Target="/ppt/notesMasters/notesMaster1.xml" Id="R4a309ea4135b4a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ec149240cb4765" /><Relationship Type="http://schemas.openxmlformats.org/officeDocument/2006/relationships/notesMaster" Target="/ppt/notesMasters/notesMaster1.xml" Id="Rdf934d74ff45405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deae207321e4e64" /><Relationship Type="http://schemas.openxmlformats.org/officeDocument/2006/relationships/notesMaster" Target="/ppt/notesMasters/notesMaster1.xml" Id="R6d45368eef5447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2354178f2a44fe" /><Relationship Type="http://schemas.openxmlformats.org/officeDocument/2006/relationships/notesMaster" Target="/ppt/notesMasters/notesMaster1.xml" Id="R54ab7252614e4c2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6858a6dddc04c5b" /><Relationship Type="http://schemas.openxmlformats.org/officeDocument/2006/relationships/notesMaster" Target="/ppt/notesMasters/notesMaster1.xml" Id="R5e4ecdf2e7fe408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84ecbbc3a8342bf" /><Relationship Type="http://schemas.openxmlformats.org/officeDocument/2006/relationships/notesMaster" Target="/ppt/notesMasters/notesMaster1.xml" Id="R2f0166fc9aaa4c4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e8f2f51838d4ac6" /><Relationship Type="http://schemas.openxmlformats.org/officeDocument/2006/relationships/notesMaster" Target="/ppt/notesMasters/notesMaster1.xml" Id="R5e306549662443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6032de1c748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8fef23d5e741cb" /><Relationship Type="http://schemas.openxmlformats.org/officeDocument/2006/relationships/slideLayout" Target="/ppt/slideLayouts/slideLayout1.xml" Id="Rfa23517173264a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23517173264a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62130242d43b7" /><Relationship Type="http://schemas.openxmlformats.org/officeDocument/2006/relationships/notesSlide" Target="/ppt/notesSlides/notesSlide1.xml" Id="R141585bb41404e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f13b06b7f4f14" /><Relationship Type="http://schemas.openxmlformats.org/officeDocument/2006/relationships/notesSlide" Target="/ppt/notesSlides/notesSlide2.xml" Id="R7b6557c7654949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cf9308dd146db" /><Relationship Type="http://schemas.openxmlformats.org/officeDocument/2006/relationships/notesSlide" Target="/ppt/notesSlides/notesSlide3.xml" Id="R493db86e0f4447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9229eb8524742" /><Relationship Type="http://schemas.openxmlformats.org/officeDocument/2006/relationships/notesSlide" Target="/ppt/notesSlides/notesSlide4.xml" Id="R4e1ec20f71e340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84b48cde54f15" /><Relationship Type="http://schemas.openxmlformats.org/officeDocument/2006/relationships/notesSlide" Target="/ppt/notesSlides/notesSlide5.xml" Id="Rb49d9eb2332c47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c096d1c264dc4" /><Relationship Type="http://schemas.openxmlformats.org/officeDocument/2006/relationships/chart" Target="/ppt/slides/charts/chart1.xml" Id="R6938dac77e214a1b" /><Relationship Type="http://schemas.openxmlformats.org/officeDocument/2006/relationships/notesSlide" Target="/ppt/notesSlides/notesSlide6.xml" Id="Ra571168af53248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1e12fc5524517" /><Relationship Type="http://schemas.openxmlformats.org/officeDocument/2006/relationships/notesSlide" Target="/ppt/notesSlides/notesSlide7.xml" Id="Re47b453ce0f94f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86f12cca94b2d" /><Relationship Type="http://schemas.openxmlformats.org/officeDocument/2006/relationships/chart" Target="/ppt/slides/charts/chart2.xml" Id="Rc017077c421e416e" /><Relationship Type="http://schemas.openxmlformats.org/officeDocument/2006/relationships/notesSlide" Target="/ppt/notesSlides/notesSlide8.xml" Id="Ra5e3c7380d9246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34d1808e8401a" /><Relationship Type="http://schemas.openxmlformats.org/officeDocument/2006/relationships/notesSlide" Target="/ppt/notesSlides/notesSlide9.xml" Id="R6f79debf616c42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b903b36cc4582" /><Relationship Type="http://schemas.openxmlformats.org/officeDocument/2006/relationships/chart" Target="/ppt/slides/charts/chart3.xml" Id="R2c5daf832b6f431c" /><Relationship Type="http://schemas.openxmlformats.org/officeDocument/2006/relationships/notesSlide" Target="/ppt/notesSlides/notesSlide10.xml" Id="Re205d36ab90048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976da0e634023" /><Relationship Type="http://schemas.openxmlformats.org/officeDocument/2006/relationships/chart" Target="/ppt/slides/charts/chart4.xml" Id="Rabe0edd49268402c" /><Relationship Type="http://schemas.openxmlformats.org/officeDocument/2006/relationships/notesSlide" Target="/ppt/notesSlides/notesSlide11.xml" Id="R68f6957ca4b142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53b9b74d64c62" /><Relationship Type="http://schemas.openxmlformats.org/officeDocument/2006/relationships/chart" Target="/ppt/slides/charts/chart5.xml" Id="Raea409546a684ffa" /><Relationship Type="http://schemas.openxmlformats.org/officeDocument/2006/relationships/notesSlide" Target="/ppt/notesSlides/notesSlide12.xml" Id="R47fd2effb00f4c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50e5a6f4d4105" /><Relationship Type="http://schemas.openxmlformats.org/officeDocument/2006/relationships/chart" Target="/ppt/slides/charts/chart6.xml" Id="R998e2fa049d94542" /><Relationship Type="http://schemas.openxmlformats.org/officeDocument/2006/relationships/notesSlide" Target="/ppt/notesSlides/notesSlide13.xml" Id="Rebfacadbc05e4e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aeccbc8ca4b33" /><Relationship Type="http://schemas.openxmlformats.org/officeDocument/2006/relationships/chart" Target="/ppt/slides/charts/chart7.xml" Id="R5885fe23ba6d40d5" /><Relationship Type="http://schemas.openxmlformats.org/officeDocument/2006/relationships/notesSlide" Target="/ppt/notesSlides/notesSlide14.xml" Id="Ra630d420c41b4f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e3fa9db5a4635" /><Relationship Type="http://schemas.openxmlformats.org/officeDocument/2006/relationships/notesSlide" Target="/ppt/notesSlides/notesSlide15.xml" Id="R8e585ea6a60449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f358f64e64169" /><Relationship Type="http://schemas.openxmlformats.org/officeDocument/2006/relationships/chart" Target="/ppt/slides/charts/chart8.xml" Id="R05e593a2b4004443" /><Relationship Type="http://schemas.openxmlformats.org/officeDocument/2006/relationships/notesSlide" Target="/ppt/notesSlides/notesSlide16.xml" Id="R814528c2a5074f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b2a6b88434ba2" /><Relationship Type="http://schemas.openxmlformats.org/officeDocument/2006/relationships/chart" Target="/ppt/slides/charts/chart9.xml" Id="R379e783331ee4850" /><Relationship Type="http://schemas.openxmlformats.org/officeDocument/2006/relationships/notesSlide" Target="/ppt/notesSlides/notesSlide17.xml" Id="R5d4afd69282d4e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73691b99b4195" /><Relationship Type="http://schemas.openxmlformats.org/officeDocument/2006/relationships/notesSlide" Target="/ppt/notesSlides/notesSlide18.xml" Id="R0a4688d45772471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6c5e640894324" /><Relationship Type="http://schemas.openxmlformats.org/officeDocument/2006/relationships/chart" Target="/ppt/slides/charts/chart10.xml" Id="Rdc6943e1064e4e41" /><Relationship Type="http://schemas.openxmlformats.org/officeDocument/2006/relationships/notesSlide" Target="/ppt/notesSlides/notesSlide19.xml" Id="Rd6d7815b9c214c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9c41f281d49f5" /><Relationship Type="http://schemas.openxmlformats.org/officeDocument/2006/relationships/notesSlide" Target="/ppt/notesSlides/notesSlide20.xml" Id="R264f5c9709d4489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a8e129a37440e" /><Relationship Type="http://schemas.openxmlformats.org/officeDocument/2006/relationships/notesSlide" Target="/ppt/notesSlides/notesSlide21.xml" Id="Reec6b11a397549d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b201e556d444c" /><Relationship Type="http://schemas.openxmlformats.org/officeDocument/2006/relationships/notesSlide" Target="/ppt/notesSlides/notesSlide22.xml" Id="Rf84c428c900847a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33d21d033420b" /><Relationship Type="http://schemas.openxmlformats.org/officeDocument/2006/relationships/chart" Target="/ppt/slides/charts/chart11.xml" Id="Ra76079da584b4077" /><Relationship Type="http://schemas.openxmlformats.org/officeDocument/2006/relationships/notesSlide" Target="/ppt/notesSlides/notesSlide23.xml" Id="R00564c8a5d85437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cf1de2607432c" /><Relationship Type="http://schemas.openxmlformats.org/officeDocument/2006/relationships/notesSlide" Target="/ppt/notesSlides/notesSlide24.xml" Id="R000f1334d7684eb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6004227204b60" /><Relationship Type="http://schemas.openxmlformats.org/officeDocument/2006/relationships/chart" Target="/ppt/slides/charts/chart12.xml" Id="R64f98b09203c40d7" /><Relationship Type="http://schemas.openxmlformats.org/officeDocument/2006/relationships/notesSlide" Target="/ppt/notesSlides/notesSlide25.xml" Id="R00037342fc62450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5853fce2b4da0" /><Relationship Type="http://schemas.openxmlformats.org/officeDocument/2006/relationships/chart" Target="/ppt/slides/charts/chart13.xml" Id="R8a0b2fb39db64050" /><Relationship Type="http://schemas.openxmlformats.org/officeDocument/2006/relationships/notesSlide" Target="/ppt/notesSlides/notesSlide26.xml" Id="R58914bb40b75465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ba6df2e314fed" /><Relationship Type="http://schemas.openxmlformats.org/officeDocument/2006/relationships/notesSlide" Target="/ppt/notesSlides/notesSlide27.xml" Id="R09f2adc22ca043e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82df0236f4640" /><Relationship Type="http://schemas.openxmlformats.org/officeDocument/2006/relationships/chart" Target="/ppt/slides/charts/chart14.xml" Id="Ra2e30386d53c4cf4" /><Relationship Type="http://schemas.openxmlformats.org/officeDocument/2006/relationships/notesSlide" Target="/ppt/notesSlides/notesSlide28.xml" Id="Rb3349b1de5d3497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4b4c0933d47ca" /><Relationship Type="http://schemas.openxmlformats.org/officeDocument/2006/relationships/notesSlide" Target="/ppt/notesSlides/notesSlide29.xml" Id="Rfa07888fd7694d8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3fe843d0c4a1c" /><Relationship Type="http://schemas.openxmlformats.org/officeDocument/2006/relationships/notesSlide" Target="/ppt/notesSlides/notesSlide30.xml" Id="R6ab4487ee8164753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Stage 1 village win progression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lineChart>
        <c:grouping val="standard"/>
        <c:ser>
          <c:idx val="0"/>
          <c:order val="0"/>
          <c:tx>
            <c:v>Village win %</c:v>
          </c:tx>
          <c:spPr>
            <a:ln xmlns:a="http://schemas.openxmlformats.org/drawingml/2006/main" w="38100">
              <a:solidFill>
                <a:srgbClr val="14B8A6"/>
              </a:solidFill>
              <a:prstDash val="solid"/>
            </a:ln>
          </c:spPr>
          <c:marker>
            <c:symbol val="circle"/>
            <c:size val="7"/>
          </c:marker>
          <c:dLbls/>
          <c:cat>
            <c:strLit>
              <c:ptCount val="6"/>
              <c:pt idx="0">
                <c:v>Random</c:v>
              </c:pt>
              <c:pt idx="1">
                <c:v>Suspicion vote</c:v>
              </c:pt>
              <c:pt idx="2">
                <c:v>Suspicion update</c:v>
              </c:pt>
              <c:pt idx="3">
                <c:v>Seer</c:v>
              </c:pt>
              <c:pt idx="4">
                <c:v>Witch</c:v>
              </c:pt>
              <c:pt idx="5">
                <c:v>Hunter</c:v>
              </c:pt>
            </c:strLit>
          </c:cat>
          <c:val>
            <c:numLit>
              <c:formatCode>General</c:formatCode>
              <c:ptCount val="6"/>
              <c:pt idx="0">
                <c:v>7</c:v>
              </c:pt>
              <c:pt idx="1">
                <c:v>9</c:v>
              </c:pt>
              <c:pt idx="2">
                <c:v>15</c:v>
              </c:pt>
              <c:pt idx="3">
                <c:v>23</c:v>
              </c:pt>
              <c:pt idx="4">
                <c:v>49</c:v>
              </c:pt>
              <c:pt idx="5">
                <c:v>46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F172A"/>
                  </a:solidFill>
                </a:defRPr>
              </a:pPr>
            </a:p>
          </c:txPr>
          <c:showVal val="1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F172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plotVisOnly val="1"/>
  </c:chart>
  <c:spPr>
    <a:solidFill xmlns:a="http://schemas.openxmlformats.org/drawingml/2006/main">
      <a:srgbClr val="F8FAFC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10-player multi-seed village win rates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v>Village win %</c:v>
          </c:tx>
          <c:spPr>
            <a:solidFill xmlns:a="http://schemas.openxmlformats.org/drawingml/2006/main">
              <a:srgbClr val="14B8A6"/>
            </a:solidFill>
          </c:spPr>
          <c:dLbls/>
          <c:cat>
            <c:strLit>
              <c:ptCount val="5"/>
              <c:pt idx="0">
                <c:v>Baseline</c:v>
              </c:pt>
              <c:pt idx="1">
                <c:v>Speech</c:v>
              </c:pt>
              <c:pt idx="2">
                <c:v>Wolf deception</c:v>
              </c:pt>
              <c:pt idx="3">
                <c:v>Credibility</c:v>
              </c:pt>
              <c:pt idx="4">
                <c:v>Trust memory</c:v>
              </c:pt>
            </c:strLit>
          </c:cat>
          <c:val>
            <c:numLit>
              <c:formatCode>General</c:formatCode>
              <c:ptCount val="5"/>
              <c:pt idx="0">
                <c:v>43.68</c:v>
              </c:pt>
              <c:pt idx="1">
                <c:v>65.16</c:v>
              </c:pt>
              <c:pt idx="2">
                <c:v>21.6</c:v>
              </c:pt>
              <c:pt idx="3">
                <c:v>41.68</c:v>
              </c:pt>
              <c:pt idx="4">
                <c:v>60.32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F172A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plotVisOnly val="1"/>
  </c:chart>
  <c:spPr>
    <a:solidFill xmlns:a="http://schemas.openxmlformats.org/drawingml/2006/main">
      <a:srgbClr val="F8FAFC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Initial deception policy wolf win rates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v>Village win %</c:v>
          </c:tx>
          <c:spPr>
            <a:solidFill xmlns:a="http://schemas.openxmlformats.org/drawingml/2006/main">
              <a:srgbClr val="F97316"/>
            </a:solidFill>
          </c:spPr>
          <c:dLbls/>
          <c:cat>
            <c:strLit>
              <c:ptCount val="5"/>
              <c:pt idx="0">
                <c:v>false_accuse</c:v>
              </c:pt>
              <c:pt idx="1">
                <c:v>deflect</c:v>
              </c:pt>
              <c:pt idx="2">
                <c:v>false_defend</c:v>
              </c:pt>
              <c:pt idx="3">
                <c:v>trust_build</c:v>
              </c:pt>
              <c:pt idx="4">
                <c:v>false_claim</c:v>
              </c:pt>
            </c:strLit>
          </c:cat>
          <c:val>
            <c:numLit>
              <c:formatCode>General</c:formatCode>
              <c:ptCount val="5"/>
              <c:pt idx="0">
                <c:v>78</c:v>
              </c:pt>
              <c:pt idx="1">
                <c:v>60</c:v>
              </c:pt>
              <c:pt idx="2">
                <c:v>42</c:v>
              </c:pt>
              <c:pt idx="3">
                <c:v>33</c:v>
              </c:pt>
              <c:pt idx="4">
                <c:v>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F172A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plotVisOnly val="1"/>
  </c:chart>
  <c:spPr>
    <a:solidFill xmlns:a="http://schemas.openxmlformats.org/drawingml/2006/main">
      <a:srgbClr val="F8FAFC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Wolf win rates before and after credibility costs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Before cost</c:v>
          </c:tx>
          <c:spPr>
            <a:solidFill xmlns:a="http://schemas.openxmlformats.org/drawingml/2006/main">
              <a:srgbClr val="F97316"/>
            </a:solidFill>
          </c:spPr>
          <c:dLbls/>
          <c:cat>
            <c:strLit>
              <c:ptCount val="3"/>
              <c:pt idx="0">
                <c:v>False accuse</c:v>
              </c:pt>
              <c:pt idx="1">
                <c:v>Deflect</c:v>
              </c:pt>
              <c:pt idx="2">
                <c:v>Adaptive</c:v>
              </c:pt>
            </c:strLit>
          </c:cat>
          <c:val>
            <c:numLit>
              <c:formatCode>General</c:formatCode>
              <c:ptCount val="3"/>
              <c:pt idx="0">
                <c:v>78</c:v>
              </c:pt>
              <c:pt idx="1">
                <c:v>60</c:v>
              </c:pt>
              <c:pt idx="2">
                <c:v>78</c:v>
              </c:pt>
            </c:numLit>
          </c:val>
        </c:ser>
        <c:ser>
          <c:idx val="1"/>
          <c:order val="1"/>
          <c:tx>
            <c:v>After final costs</c:v>
          </c:tx>
          <c:spPr>
            <a:solidFill xmlns:a="http://schemas.openxmlformats.org/drawingml/2006/main">
              <a:srgbClr val="14B8A6"/>
            </a:solidFill>
          </c:spPr>
          <c:dLbls/>
          <c:cat>
            <c:strLit>
              <c:ptCount val="3"/>
              <c:pt idx="0">
                <c:v>False accuse</c:v>
              </c:pt>
              <c:pt idx="1">
                <c:v>Deflect</c:v>
              </c:pt>
              <c:pt idx="2">
                <c:v>Adaptive</c:v>
              </c:pt>
            </c:strLit>
          </c:cat>
          <c:val>
            <c:numLit>
              <c:formatCode>General</c:formatCode>
              <c:ptCount val="3"/>
              <c:pt idx="0">
                <c:v>50</c:v>
              </c:pt>
              <c:pt idx="1">
                <c:v>46</c:v>
              </c:pt>
              <c:pt idx="2">
                <c:v>46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F172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AFC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Village win rate by trust_vote_weight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lineChart>
        <c:grouping val="standard"/>
        <c:ser>
          <c:idx val="0"/>
          <c:order val="0"/>
          <c:tx>
            <c:v>Village win %</c:v>
          </c:tx>
          <c:spPr>
            <a:ln xmlns:a="http://schemas.openxmlformats.org/drawingml/2006/main" w="38100">
              <a:solidFill>
                <a:srgbClr val="14B8A6"/>
              </a:solidFill>
              <a:prstDash val="solid"/>
            </a:ln>
          </c:spPr>
          <c:marker>
            <c:symbol val="circle"/>
            <c:size val="7"/>
          </c:marker>
          <c:dLbls/>
          <c:cat>
            <c:numLit>
              <c:formatCode>General</c:formatCode>
              <c:ptCount val="6"/>
              <c:pt idx="0">
                <c:v>0.00</c:v>
              </c:pt>
              <c:pt idx="1">
                <c:v>0.05</c:v>
              </c:pt>
              <c:pt idx="2">
                <c:v>0.10</c:v>
              </c:pt>
              <c:pt idx="3">
                <c:v>0.20</c:v>
              </c:pt>
              <c:pt idx="4">
                <c:v>0.30</c:v>
              </c:pt>
              <c:pt idx="5">
                <c:v>0.40</c:v>
              </c:pt>
            </c:numLit>
          </c:cat>
          <c:val>
            <c:numLit>
              <c:formatCode>General</c:formatCode>
              <c:ptCount val="6"/>
              <c:pt idx="0">
                <c:v>52.2</c:v>
              </c:pt>
              <c:pt idx="1">
                <c:v>55.6</c:v>
              </c:pt>
              <c:pt idx="2">
                <c:v>57.8</c:v>
              </c:pt>
              <c:pt idx="3">
                <c:v>58.8</c:v>
              </c:pt>
              <c:pt idx="4">
                <c:v>57.4</c:v>
              </c:pt>
              <c:pt idx="5">
                <c:v>63.6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F172A"/>
                  </a:solidFill>
                </a:defRPr>
              </a:pPr>
            </a:p>
          </c:txPr>
          <c:showVal val="1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F172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plotVisOnly val="1"/>
  </c:chart>
  <c:spPr>
    <a:solidFill xmlns:a="http://schemas.openxmlformats.org/drawingml/2006/main">
      <a:srgbClr val="F8FAFC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10-player multi-seed outcomes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Wolf</c:v>
          </c:tx>
          <c:spPr>
            <a:solidFill xmlns:a="http://schemas.openxmlformats.org/drawingml/2006/main">
              <a:srgbClr val="F97316"/>
            </a:solidFill>
          </c:spPr>
          <c:dLbls/>
          <c:cat>
            <c:strLit>
              <c:ptCount val="6"/>
              <c:pt idx="0">
                <c:v>Baseline</c:v>
              </c:pt>
              <c:pt idx="1">
                <c:v>Speech</c:v>
              </c:pt>
              <c:pt idx="2">
                <c:v>Deception</c:v>
              </c:pt>
              <c:pt idx="3">
                <c:v>Credibility</c:v>
              </c:pt>
              <c:pt idx="4">
                <c:v>Trust</c:v>
              </c:pt>
              <c:pt idx="5">
                <c:v>Trust herd</c:v>
              </c:pt>
            </c:strLit>
          </c:cat>
          <c:val>
            <c:numLit>
              <c:formatCode>General</c:formatCode>
              <c:ptCount val="6"/>
              <c:pt idx="0">
                <c:v>56.32</c:v>
              </c:pt>
              <c:pt idx="1">
                <c:v>34.84</c:v>
              </c:pt>
              <c:pt idx="2">
                <c:v>78.4</c:v>
              </c:pt>
              <c:pt idx="3">
                <c:v>58.32</c:v>
              </c:pt>
              <c:pt idx="4">
                <c:v>39.68</c:v>
              </c:pt>
              <c:pt idx="5">
                <c:v>51.44</c:v>
              </c:pt>
            </c:numLit>
          </c:val>
        </c:ser>
        <c:ser>
          <c:idx val="1"/>
          <c:order val="1"/>
          <c:tx>
            <c:v>Village</c:v>
          </c:tx>
          <c:spPr>
            <a:solidFill xmlns:a="http://schemas.openxmlformats.org/drawingml/2006/main">
              <a:srgbClr val="14B8A6"/>
            </a:solidFill>
          </c:spPr>
          <c:dLbls/>
          <c:cat>
            <c:strLit>
              <c:ptCount val="6"/>
              <c:pt idx="0">
                <c:v>Baseline</c:v>
              </c:pt>
              <c:pt idx="1">
                <c:v>Speech</c:v>
              </c:pt>
              <c:pt idx="2">
                <c:v>Deception</c:v>
              </c:pt>
              <c:pt idx="3">
                <c:v>Credibility</c:v>
              </c:pt>
              <c:pt idx="4">
                <c:v>Trust</c:v>
              </c:pt>
              <c:pt idx="5">
                <c:v>Trust herd</c:v>
              </c:pt>
            </c:strLit>
          </c:cat>
          <c:val>
            <c:numLit>
              <c:formatCode>General</c:formatCode>
              <c:ptCount val="6"/>
              <c:pt idx="0">
                <c:v>43.68</c:v>
              </c:pt>
              <c:pt idx="1">
                <c:v>65.16</c:v>
              </c:pt>
              <c:pt idx="2">
                <c:v>21.6</c:v>
              </c:pt>
              <c:pt idx="3">
                <c:v>41.68</c:v>
              </c:pt>
              <c:pt idx="4">
                <c:v>60.32</c:v>
              </c:pt>
              <c:pt idx="5">
                <c:v>48.56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F172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AFC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Trust-memory setting, multi-seed village win rates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v>Village win %</c:v>
          </c:tx>
          <c:spPr>
            <a:solidFill xmlns:a="http://schemas.openxmlformats.org/drawingml/2006/main">
              <a:srgbClr val="14B8A6"/>
            </a:solidFill>
          </c:spPr>
          <c:dLbls/>
          <c:cat>
            <c:strLit>
              <c:ptCount val="4"/>
              <c:pt idx="0">
                <c:v>Neutral trust</c:v>
              </c:pt>
              <c:pt idx="1">
                <c:v>Mixed risk</c:v>
              </c:pt>
              <c:pt idx="2">
                <c:v>Conservative majority</c:v>
              </c:pt>
              <c:pt idx="3">
                <c:v>Aggressive majority</c:v>
              </c:pt>
            </c:strLit>
          </c:cat>
          <c:val>
            <c:numLit>
              <c:formatCode>General</c:formatCode>
              <c:ptCount val="4"/>
              <c:pt idx="0">
                <c:v>57.04</c:v>
              </c:pt>
              <c:pt idx="1">
                <c:v>52.72</c:v>
              </c:pt>
              <c:pt idx="2">
                <c:v>61.44</c:v>
              </c:pt>
              <c:pt idx="3">
                <c:v>49.04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F172A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plotVisOnly val="1"/>
  </c:chart>
  <c:spPr>
    <a:solidFill xmlns:a="http://schemas.openxmlformats.org/drawingml/2006/main">
      <a:srgbClr val="F8FAFC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Fixed-role multi-seed village win rates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v>Village win %</c:v>
          </c:tx>
          <c:spPr>
            <a:solidFill xmlns:a="http://schemas.openxmlformats.org/drawingml/2006/main">
              <a:srgbClr val="14B8A6"/>
            </a:solidFill>
          </c:spPr>
          <c:dLbls/>
          <c:cat>
            <c:strLit>
              <c:ptCount val="6"/>
              <c:pt idx="0">
                <c:v>highest_p_wolf</c:v>
              </c:pt>
              <c:pt idx="1">
                <c:v>random</c:v>
              </c:pt>
              <c:pt idx="2">
                <c:v>inner_first</c:v>
              </c:pt>
              <c:pt idx="3">
                <c:v>edge_first</c:v>
              </c:pt>
              <c:pt idx="4">
                <c:v>default</c:v>
              </c:pt>
              <c:pt idx="5">
                <c:v>opposite_side</c:v>
              </c:pt>
            </c:strLit>
          </c:cat>
          <c:val>
            <c:numLit>
              <c:formatCode>General</c:formatCode>
              <c:ptCount val="6"/>
              <c:pt idx="0">
                <c:v>67.4</c:v>
              </c:pt>
              <c:pt idx="1">
                <c:v>66.04</c:v>
              </c:pt>
              <c:pt idx="2">
                <c:v>63.52</c:v>
              </c:pt>
              <c:pt idx="3">
                <c:v>62.8</c:v>
              </c:pt>
              <c:pt idx="4">
                <c:v>56.92</c:v>
              </c:pt>
              <c:pt idx="5">
                <c:v>53.56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F172A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plotVisOnly val="1"/>
  </c:chart>
  <c:spPr>
    <a:solidFill xmlns:a="http://schemas.openxmlformats.org/drawingml/2006/main">
      <a:srgbClr val="F8FAFC"/>
    </a:solidFill>
  </c:spPr>
</c:chartSpace>
</file>

<file path=ppt/slides/charts/chart9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Wolf probability by seat type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Wolf probability</c:v>
          </c:tx>
          <c:spPr>
            <a:solidFill xmlns:a="http://schemas.openxmlformats.org/drawingml/2006/main">
              <a:srgbClr val="38BDF8"/>
            </a:solidFill>
          </c:spPr>
          <c:dLbls/>
          <c:cat>
            <c:strLit>
              <c:ptCount val="3"/>
              <c:pt idx="0">
                <c:v>Edge seats</c:v>
              </c:pt>
              <c:pt idx="1">
                <c:v>Inner seats</c:v>
              </c:pt>
              <c:pt idx="2">
                <c:v>Expected</c:v>
              </c:pt>
            </c:strLit>
          </c:cat>
          <c:val>
            <c:numLit>
              <c:formatCode>General</c:formatCode>
              <c:ptCount val="3"/>
              <c:pt idx="0">
                <c:v>30.23</c:v>
              </c:pt>
              <c:pt idx="1">
                <c:v>29.85</c:v>
              </c:pt>
              <c:pt idx="2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F172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AFC"/>
    </a:solidFill>
  </c:spPr>
</c:chartSpace>
</file>

<file path=ppt/slides/charts/chart10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Village win rate by first-check result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v>Village win %</c:v>
          </c:tx>
          <c:spPr>
            <a:solidFill xmlns:a="http://schemas.openxmlformats.org/drawingml/2006/main">
              <a:srgbClr val="14B8A6"/>
            </a:solidFill>
          </c:spPr>
          <c:dLbls/>
          <c:cat>
            <c:strLit>
              <c:ptCount val="2"/>
              <c:pt idx="0">
                <c:v>First check found wolf</c:v>
              </c:pt>
              <c:pt idx="1">
                <c:v>First check did not</c:v>
              </c:pt>
            </c:strLit>
          </c:cat>
          <c:val>
            <c:numLit>
              <c:formatCode>General</c:formatCode>
              <c:ptCount val="2"/>
              <c:pt idx="0">
                <c:v>47.59</c:v>
              </c:pt>
              <c:pt idx="1">
                <c:v>34.17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F172A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plotVisOnly val="1"/>
  </c:chart>
  <c:spPr>
    <a:solidFill xmlns:a="http://schemas.openxmlformats.org/drawingml/2006/main">
      <a:srgbClr val="F8FAFC"/>
    </a:solidFill>
  </c:spPr>
</c:chartSpace>
</file>

<file path=ppt/slides/charts/chart1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Structured search village win rates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v>Village win %</c:v>
          </c:tx>
          <c:spPr>
            <a:solidFill xmlns:a="http://schemas.openxmlformats.org/drawingml/2006/main">
              <a:srgbClr val="14B8A6"/>
            </a:solidFill>
          </c:spPr>
          <c:dLbls/>
          <c:cat>
            <c:strLit>
              <c:ptCount val="6"/>
              <c:pt idx="0">
                <c:v>alternate_sides</c:v>
              </c:pt>
              <c:pt idx="1">
                <c:v>right_to_left</c:v>
              </c:pt>
              <c:pt idx="2">
                <c:v>farthest_first</c:v>
              </c:pt>
              <c:pt idx="3">
                <c:v>random</c:v>
              </c:pt>
              <c:pt idx="4">
                <c:v>highest_p_wolf</c:v>
              </c:pt>
              <c:pt idx="5">
                <c:v>highest_suspicion</c:v>
              </c:pt>
            </c:strLit>
          </c:cat>
          <c:val>
            <c:numLit>
              <c:formatCode>General</c:formatCode>
              <c:ptCount val="6"/>
              <c:pt idx="0">
                <c:v>44.16</c:v>
              </c:pt>
              <c:pt idx="1">
                <c:v>43.88</c:v>
              </c:pt>
              <c:pt idx="2">
                <c:v>42.88</c:v>
              </c:pt>
              <c:pt idx="3">
                <c:v>40.52</c:v>
              </c:pt>
              <c:pt idx="4">
                <c:v>34.88</c:v>
              </c:pt>
              <c:pt idx="5">
                <c:v>34.84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F172A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plotVisOnly val="1"/>
  </c:chart>
  <c:spPr>
    <a:solidFill xmlns:a="http://schemas.openxmlformats.org/drawingml/2006/main">
      <a:srgbClr val="F8FAFC"/>
    </a:solidFill>
  </c:spPr>
</c:chartSpace>
</file>

<file path=ppt/slides/charts/chart1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Strategy family comparison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Village win</c:v>
          </c:tx>
          <c:spPr>
            <a:solidFill xmlns:a="http://schemas.openxmlformats.org/drawingml/2006/main">
              <a:srgbClr val="14B8A6"/>
            </a:solidFill>
          </c:spPr>
          <c:dLbls/>
          <c:cat>
            <c:strLit>
              <c:ptCount val="2"/>
              <c:pt idx="0">
                <c:v>Structured diversification</c:v>
              </c:pt>
              <c:pt idx="1">
                <c:v>Behavioral exploitation</c:v>
              </c:pt>
            </c:strLit>
          </c:cat>
          <c:val>
            <c:numLit>
              <c:formatCode>General</c:formatCode>
              <c:ptCount val="2"/>
              <c:pt idx="0">
                <c:v>42.66</c:v>
              </c:pt>
              <c:pt idx="1">
                <c:v>35.52</c:v>
              </c:pt>
            </c:numLit>
          </c:val>
        </c:ser>
        <c:ser>
          <c:idx val="1"/>
          <c:order val="1"/>
          <c:tx>
            <c:v>Wolf win</c:v>
          </c:tx>
          <c:spPr>
            <a:solidFill xmlns:a="http://schemas.openxmlformats.org/drawingml/2006/main">
              <a:srgbClr val="F97316"/>
            </a:solidFill>
          </c:spPr>
          <c:dLbls/>
          <c:cat>
            <c:strLit>
              <c:ptCount val="2"/>
              <c:pt idx="0">
                <c:v>Structured diversification</c:v>
              </c:pt>
              <c:pt idx="1">
                <c:v>Behavioral exploitation</c:v>
              </c:pt>
            </c:strLit>
          </c:cat>
          <c:val>
            <c:numLit>
              <c:formatCode>General</c:formatCode>
              <c:ptCount val="2"/>
              <c:pt idx="0">
                <c:v>57.34</c:v>
              </c:pt>
              <c:pt idx="1">
                <c:v>64.48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F172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AFC"/>
    </a:solidFill>
  </c:spPr>
</c:chartSpace>
</file>

<file path=ppt/slides/charts/chart1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Structured search directional comparison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Village win</c:v>
          </c:tx>
          <c:spPr>
            <a:solidFill xmlns:a="http://schemas.openxmlformats.org/drawingml/2006/main">
              <a:srgbClr val="14B8A6"/>
            </a:solidFill>
          </c:spPr>
          <c:dLbls/>
          <c:cat>
            <c:strLit>
              <c:ptCount val="2"/>
              <c:pt idx="0">
                <c:v>left_to_right</c:v>
              </c:pt>
              <c:pt idx="1">
                <c:v>right_to_left</c:v>
              </c:pt>
            </c:strLit>
          </c:cat>
          <c:val>
            <c:numLit>
              <c:formatCode>General</c:formatCode>
              <c:ptCount val="2"/>
              <c:pt idx="0">
                <c:v>40.84</c:v>
              </c:pt>
              <c:pt idx="1">
                <c:v>43.88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F172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AFC"/>
    </a:solidFill>
  </c:spPr>
</c:chartSpace>
</file>

<file path=ppt/slides/charts/chart1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F172A"/>
                </a:solidFill>
              </a:rPr>
              <a:t>Village win rates under normal and mirrored labels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F172A"/>
              </a:solidFill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Normal</c:v>
          </c:tx>
          <c:spPr>
            <a:solidFill xmlns:a="http://schemas.openxmlformats.org/drawingml/2006/main">
              <a:srgbClr val="14B8A6"/>
            </a:solidFill>
          </c:spPr>
          <c:dLbls/>
          <c:cat>
            <c:strLit>
              <c:ptCount val="3"/>
              <c:pt idx="0">
                <c:v>left_to_right</c:v>
              </c:pt>
              <c:pt idx="1">
                <c:v>right_to_left</c:v>
              </c:pt>
              <c:pt idx="2">
                <c:v>random</c:v>
              </c:pt>
            </c:strLit>
          </c:cat>
          <c:val>
            <c:numLit>
              <c:formatCode>General</c:formatCode>
              <c:ptCount val="3"/>
              <c:pt idx="0">
                <c:v>42.48</c:v>
              </c:pt>
              <c:pt idx="1">
                <c:v>43.32</c:v>
              </c:pt>
              <c:pt idx="2">
                <c:v>42.08</c:v>
              </c:pt>
            </c:numLit>
          </c:val>
        </c:ser>
        <c:ser>
          <c:idx val="1"/>
          <c:order val="1"/>
          <c:tx>
            <c:v>Mirrored</c:v>
          </c:tx>
          <c:spPr>
            <a:solidFill xmlns:a="http://schemas.openxmlformats.org/drawingml/2006/main">
              <a:srgbClr val="38BDF8"/>
            </a:solidFill>
          </c:spPr>
          <c:dLbls/>
          <c:cat>
            <c:strLit>
              <c:ptCount val="3"/>
              <c:pt idx="0">
                <c:v>left_to_right</c:v>
              </c:pt>
              <c:pt idx="1">
                <c:v>right_to_left</c:v>
              </c:pt>
              <c:pt idx="2">
                <c:v>random</c:v>
              </c:pt>
            </c:strLit>
          </c:cat>
          <c:val>
            <c:numLit>
              <c:formatCode>General</c:formatCode>
              <c:ptCount val="3"/>
              <c:pt idx="0">
                <c:v>42.28</c:v>
              </c:pt>
              <c:pt idx="1">
                <c:v>43.72</c:v>
              </c:pt>
              <c:pt idx="2">
                <c:v>42.84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F172A"/>
                  </a:solidFill>
                </a:defRPr>
              </a:pPr>
            </a:p>
          </c:txPr>
          <c:dLblPos val="outEnd"/>
          <c:showVal val="1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F172A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  <a:ln xmlns:a="http://schemas.openxmlformats.org/drawingml/2006/main" w="0">
          <a:solidFill>
            <a:srgbClr val="F8FAF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8FAFC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19B55C-FE0E-46A5-AC1C-8007C723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FULL RESEARCH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96DEF-C1ED-4796-8F13-B34F4210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Deception, Credibility, and Search Under Hidden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EAB4E-EC5E-4F87-A05E-D4B72F7F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</a:defRPr>
            </a:pPr>
            <a:r>
              <a:rPr sz="1875" b="0">
                <a:solidFill>
                  <a:srgbClr val="CBD5E1"/>
                </a:solidFill>
              </a:rPr>
              <a:t>A research progress report on the DURF Werewolf Simulation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91350-701C-4E77-AC73-2232AE84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789C7-4FE6-4C3A-BFCD-B26F4958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3B59A-E9E7-4DBC-AFB1-B9C49271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Controlled simulation -&gt; experimental evidence -&gt; revised hypotheses</a:t>
            </a:r>
          </a:p>
        </p:txBody>
      </p:sp>
    </p:spTree>
    <p:extLst>
      <p:ext uri="{BB962C8B-B14F-4D97-AF65-F5344CB8AC3E}">
        <p14:creationId xmlns:p14="http://schemas.microsoft.com/office/powerpoint/2010/main" val="622795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638DEB-5E40-40BE-A40C-5EB7E927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RESEARCH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8054A-2413-4F7A-99F7-F3F5A7C6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Werewolf is a compact model of hidden-information decision-making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6399E-BA29-4549-83DB-81826FBF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A0DBD-577C-41D9-927A-4120B982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ABAAE-825E-4E3A-9886-352A9D1D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355C9-E492-46DD-A42E-27DC720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381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49CCE-E596-4694-959E-FB3A28ED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B5CF6"/>
                </a:solidFill>
              </a:defRPr>
            </a:pPr>
            <a:r>
              <a:rPr sz="2400" b="1">
                <a:solidFill>
                  <a:srgbClr val="8B5CF6"/>
                </a:solidFill>
              </a:rPr>
              <a:t>Hidden 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B6E5E-89CB-4644-999B-3C77A4F6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Agents must infer private states from public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8A484-65F9-45B0-9D78-ECA7D8D0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2381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C66AF-F563-4C9D-86F4-64B0D044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BDF8"/>
                </a:solidFill>
              </a:defRPr>
            </a:pPr>
            <a:r>
              <a:rPr sz="2400" b="1">
                <a:solidFill>
                  <a:srgbClr val="38BDF8"/>
                </a:solidFill>
              </a:rPr>
              <a:t>Public speech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BE8E7-A320-4122-A86A-874B5F27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765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Signals can inform, mislead, or create group pressure.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6604B-D3C5-48C8-9EF1-F7D20035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2381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AA4AD-3D48-49E8-A900-3B11E708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621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B8A6"/>
                </a:solidFill>
              </a:defRPr>
            </a:pPr>
            <a:r>
              <a:rPr sz="2400" b="1">
                <a:solidFill>
                  <a:srgbClr val="14B8A6"/>
                </a:solidFill>
              </a:rPr>
              <a:t>Voting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E7913-F823-4C3E-B1C1-B6C606F9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Collective decisions turn noisy beliefs into eliminations.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F01E3-3F54-46D4-9D47-875B8B23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381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16A75-7D68-4399-AEBB-BEB5F78D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621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97316"/>
                </a:solidFill>
              </a:defRPr>
            </a:pPr>
            <a:r>
              <a:rPr sz="2400" b="1">
                <a:solidFill>
                  <a:srgbClr val="F97316"/>
                </a:solidFill>
              </a:rPr>
              <a:t>Adversaries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A099E-EF6B-4A94-8CB0-7E14BEF4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Wolves manipulate both night kills and daytime interpretation.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5E6F0-966B-440B-93F6-77481625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971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The game stays small enough to instrument every action, but rich enough to model risk scoring, misinformation, reputation, and sequential search.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12F66-7EEC-4C58-A88B-2D27184A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Sources: Stage 1, Stage 2, and 10-player experiment reports.</a:t>
            </a:r>
          </a:p>
        </p:txBody>
      </p:sp>
    </p:spTree>
    <p:extLst>
      <p:ext uri="{BB962C8B-B14F-4D97-AF65-F5344CB8AC3E}">
        <p14:creationId xmlns:p14="http://schemas.microsoft.com/office/powerpoint/2010/main" val="626118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4AD348-932D-4DC8-9882-BF6C4BE1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CA7E4-CA43-4999-98ED-8F504702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question narrowed from game balance to information allocation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1D0A9-5275-4A07-82C3-85D8375B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02530-1C20-4625-B8FA-6F432CE7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3F72E-A85E-481E-89AA-FB6547FF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C3209-DD19-45A2-840C-FF14FD79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Initial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FD171-EEEC-4EB1-BC08-25736F27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Which mechanisms reduce wolf dominance?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6A6CC-60C3-4AE8-A9A5-AE4AB49E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Do speech and role actions change collective outcomes?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DF09A-8DDB-47AF-AB1D-34FEA3ED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Can deception restore wolf advantage?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CD81D-67FF-45A6-A284-00C4B101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33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Current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D26AA-25C6-4C90-ABCB-86814DE7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Which information paths are robust after randomizing roles?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650FA-F644-40EB-9F7F-565B0193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05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When should agents exploit behavioral risk scores?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296D5-40A0-46B6-8728-DC638A43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How should a bounded seer diversify sequential checks?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F1788-C346-4BD9-AF63-13498F6F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5400"/>
            <a:ext cx="899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The project moved from mechanism activation to mechanism isolation.</a:t>
            </a:r>
          </a:p>
        </p:txBody>
      </p:sp>
    </p:spTree>
    <p:extLst>
      <p:ext uri="{BB962C8B-B14F-4D97-AF65-F5344CB8AC3E}">
        <p14:creationId xmlns:p14="http://schemas.microsoft.com/office/powerpoint/2010/main" val="2003606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635D4-45C7-4793-9D90-BB4C6030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7F70D-D310-46BE-8459-46E87030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Every chapter follows a hypothesis-to-revision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0B55C-D959-46A8-9C8B-C183388D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67209-1DC5-458C-9E19-F29693A3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31410-B56D-455A-9873-F2A922C9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F614E-7D51-4653-BC8B-45E9C2E4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4668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0103D-D724-4C0D-B2CF-4E7CAFD4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A7745-4D3B-4AC6-BF96-BCFD6966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52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3C135-7E8A-481B-ADDE-FC47661C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05050"/>
            <a:ext cx="14668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9ABF0-EE1F-4E4E-8D37-CAB95BBC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71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8EF28-6456-4A28-BB9B-A2326F6A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52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5554F-31F0-4787-9816-455C036F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14668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2FD15-A953-40B8-B266-A57471DF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Simulation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4FE93-BECC-47E2-95E5-39A80F3C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52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98DAD-4510-45ED-AD3E-E210B5DA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14668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07C55-E5C5-4B03-9A2D-0BEBFA0E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Logging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C81A8-223A-4E31-8E7D-C843282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52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48858-D1C3-43C1-8054-7A4BC151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14668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BC723-417F-4ED6-825D-7B6519AA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Statistics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3E973-3CDC-4DFE-88EA-5B9863C0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52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</a:defRPr>
            </a:pPr>
            <a:r>
              <a:rPr sz="2100" b="1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234FF-8AAE-409D-B202-A2D5FCF0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05050"/>
            <a:ext cx="14668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313F8-40B4-4E36-822B-B008F889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71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Revised 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0CA51-E065-408D-B350-841ACE10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Aggregate win rates were enough for early mechanism testing.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92591-8038-45DC-9F38-5561E0BC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Game-level logging became necessary once the question shifted to search mechanisms.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A81D0-C8B8-42C9-BA9D-D46BB67B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Statistical analysis separates descriptive rankings from supported effects.</a:t>
            </a:r>
          </a:p>
        </p:txBody>
      </p:sp>
    </p:spTree>
    <p:extLst>
      <p:ext uri="{BB962C8B-B14F-4D97-AF65-F5344CB8AC3E}">
        <p14:creationId xmlns:p14="http://schemas.microsoft.com/office/powerpoint/2010/main" val="659260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AC3C33-0026-42F4-9913-ED36897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9A8E5-1C41-49FD-B053-FC4E1CE0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simulator was built as separable experimental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13663-E9C1-4F24-8931-8E5DA22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809E8-127C-4D0C-B49C-ADF3C3D0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FDCCF-FE91-46A5-A28F-2566459D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70546-876C-4B1E-98D7-9D4F246C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0480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8509E-8437-49AB-B716-DFB023D8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Core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FD50C-7CC2-4BBB-8C3D-62C29B7C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roles, players, phase, win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CCE19-FA58-403D-BD7B-255002B4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0480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5AB7D-A671-4F3F-9635-8AB02EA9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4074C-EA73-4AF0-9922-E8FCC516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seer, witch, hunter, wolf 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A8076-7D4E-435A-A6BB-1A5578CA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0480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9A437-09D9-4446-8EBD-D22323CA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19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Social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D490B-6634-4612-8FD8-EE12A311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speech, p_wolf, herding, role prior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0FA31-32E6-4D0E-B64D-3FBC6B66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30480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7C9A6-62CA-45BE-8ABC-84686BD8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Adversarial behavior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3318B-697E-4EBC-A98E-9D197A5C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deception, credibility costs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28F9B-5F54-4A2B-A9E2-483EC59E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9950"/>
            <a:ext cx="30480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18DD9-DE35-4411-8F11-A88036E9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21FA6-AB8F-4B65-833E-8FDD89FB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81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speaker trust and vote-outcome updates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195579-19CF-40B5-A640-FDF8FD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09950"/>
            <a:ext cx="30480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C4D40-0840-43BA-89EB-9A472619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Experiments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32104-2699-4E43-9337-4A57A6F7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81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simulation, logging, summaries, reports</a:t>
            </a:r>
          </a:p>
        </p:txBody>
      </p:sp>
    </p:spTree>
    <p:extLst>
      <p:ext uri="{BB962C8B-B14F-4D97-AF65-F5344CB8AC3E}">
        <p14:creationId xmlns:p14="http://schemas.microsoft.com/office/powerpoint/2010/main" val="1127789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FE5F4-68B0-4BD9-AA2B-3082C254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BUILDING A MEANINGFUL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59060-4018-4616-97EE-352A3F0C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Low-information baselines established wolf dominance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48AD3-1676-46D6-88E7-432B6032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C4A47-DA5E-49C2-898F-DFF2A67A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3FE61-E959-4FAB-A203-73DB297F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79070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38dac77e214a1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64F4C-C92F-4B7D-82F7-40D6EC6B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6D29D-9F49-4D1D-839A-A0E46C82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8120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11D48"/>
                </a:solidFill>
              </a:defRPr>
            </a:pPr>
            <a:r>
              <a:rPr sz="2400" b="1">
                <a:solidFill>
                  <a:srgbClr val="E11D48"/>
                </a:solidFill>
              </a:rPr>
              <a:t>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02937-51C5-4346-8F83-36C1D79B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Village win rate in the random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8A7FF-289D-4F67-ADA3-47EFC88C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2476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6C8FA-496E-4D27-859C-33F8AD0A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861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B8A6"/>
                </a:solidFill>
              </a:defRPr>
            </a:pPr>
            <a:r>
              <a:rPr sz="2400" b="1">
                <a:solidFill>
                  <a:srgbClr val="14B8A6"/>
                </a:solidFill>
              </a:rPr>
              <a:t>49%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079B2-7D45-4690-A903-48E8B957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Village win rate after witch save and poison.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5A593-0319-434A-8F35-96ACC45A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Stage 1 experiment report, 500 games per condition.</a:t>
            </a:r>
          </a:p>
        </p:txBody>
      </p:sp>
    </p:spTree>
    <p:extLst>
      <p:ext uri="{BB962C8B-B14F-4D97-AF65-F5344CB8AC3E}">
        <p14:creationId xmlns:p14="http://schemas.microsoft.com/office/powerpoint/2010/main" val="1111529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F5FA39-FF40-4AE9-A784-3B712AB0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ROLE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7BA1D-AB8C-46E5-934B-B2B997DF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Information and intervention changed the game more than voting alone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80D59-E889-43BA-A5D3-710B62B4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5BFB0-6BC5-4A13-914B-59702049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266CE-18CA-4825-B035-F54AD24F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3EA35-9107-47C0-9E67-66C7FB94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Hypothesis tested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9E12E-CC92-41E3-95B7-710C0C6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Direct information from the seer should help the village.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3269D-13E3-4D61-9126-F2134095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Witch save and poison should change survival and elimination paths.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DB057-FD2F-47BA-9DC0-12E20597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Hunter shots add power, but also risk incorrect removal.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607D0-D578-4DB3-A636-6D84C12B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Resulting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1706A-D89F-4B14-9614-7F8F4454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28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Seer action improved village wins from 15% to 23%.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79287-1A27-47AF-943F-F976E9EB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Witch action nearly balanced the early game at 49% village wins.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CF1C4-CD3D-47BC-8E08-A43E509D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Hunter action added complexity without a monotonic gain in that setup.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C90B8-AAD9-46D0-85DA-E926920F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Stage 1 experiment report.</a:t>
            </a:r>
          </a:p>
        </p:txBody>
      </p:sp>
    </p:spTree>
    <p:extLst>
      <p:ext uri="{BB962C8B-B14F-4D97-AF65-F5344CB8AC3E}">
        <p14:creationId xmlns:p14="http://schemas.microsoft.com/office/powerpoint/2010/main" val="354227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776E5E-78E0-4155-B319-114273C1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SPEECH AND BELIEF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3B949-940D-4AE3-AD5E-BD7194FB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Language-like signals turned play into social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72066-BD19-41C0-B010-367FE902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45E60-B824-45D6-9732-BC8B6860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2C119-ECAA-49B5-9877-CC6509B8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08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771650"/>
          <a:ext xmlns:a="http://schemas.openxmlformats.org/drawingml/2006/main" cx="723900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17077c421e416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2D678-4596-41EE-AEFA-BAB4DAC0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Bag-of-Words speech and p_wolf belief updates gave villagers usable social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AFD2D-0B6A-48A7-9DBC-85CA681E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Deception reversed that advantage when wolves could manipulate speech.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3492C-06E5-4A3C-B9A3-07900C39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Credibility and memory became necessary controls, not decorative features.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38239-68A3-43A5-BEC7-79ABDCD4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ten-player experiment report and multi-seed summary.</a:t>
            </a:r>
          </a:p>
        </p:txBody>
      </p:sp>
    </p:spTree>
    <p:extLst>
      <p:ext uri="{BB962C8B-B14F-4D97-AF65-F5344CB8AC3E}">
        <p14:creationId xmlns:p14="http://schemas.microsoft.com/office/powerpoint/2010/main" val="3737176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28C57-E4C9-480E-BB63-72748919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WOLF NIGHT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E6A1D-860D-4BCF-ACAF-34316F1F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Targeting the seer exposed the main village information channel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254A6-BA52-4FF6-8937-A81DA95B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94450-B965-456A-A24B-0A779EDD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8A535-E97A-4FCB-8817-39600E45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485F8-2833-4EEF-A2A3-8F4810F6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29527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DC749-AB45-4B1E-9E8B-352E31DA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97316"/>
                </a:solidFill>
              </a:defRPr>
            </a:pPr>
            <a:r>
              <a:rPr sz="2400" b="1">
                <a:solidFill>
                  <a:srgbClr val="F97316"/>
                </a:solidFill>
              </a:rPr>
              <a:t>seer_first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2778D-7D37-4CC0-9548-F3D24E95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Best exploratory wolf night-kill policy in Stage 2 diagnostics.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FF30C-2F5B-418F-8A5A-664C0799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24765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129D8-94AC-4EB8-8125-D53C2910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97316"/>
                </a:solidFill>
              </a:defRPr>
            </a:pPr>
            <a:r>
              <a:rPr sz="2400" b="1">
                <a:solidFill>
                  <a:srgbClr val="F97316"/>
                </a:solidFill>
              </a:rPr>
              <a:t>39%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A311F-8222-4D19-96F7-141F527D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146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Wolf win rate for seer_first in the Stage 2 wolf-strategy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8EDB8-42F2-4C74-B8F5-517658B7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This result did not prove an optimal wolf policy. It did show that the seer acts as an information bottleneck, which later made seer search behavior a central research target.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7EE25-8401-4AC4-9552-9EF5F8B8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Revised hypothesis: if seer information is central, the structure of seer checks should matter.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D2537-2626-448F-9065-548A0355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Stage 2 report and wolf strategy results.</a:t>
            </a:r>
          </a:p>
        </p:txBody>
      </p:sp>
    </p:spTree>
    <p:extLst>
      <p:ext uri="{BB962C8B-B14F-4D97-AF65-F5344CB8AC3E}">
        <p14:creationId xmlns:p14="http://schemas.microsoft.com/office/powerpoint/2010/main" val="5496013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AEE6C0-1AEA-46A1-91A1-ABE8942E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WOLF DAYTIME DECEPTION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13755-CECB-4F4A-A4F2-A78830ED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Speech could help the village, so wolves learned to weaponize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DD053-F2E0-4E94-8A2C-060E44F5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61A53-8CCA-4213-8C6A-4955524B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35BFC-337D-4C19-88EB-50B7B25A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10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5daf832b6f431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561AC-D095-4042-83FC-F411C939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false_accuse was strongest before costs.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8B3BB-2028-4FB9-8A94-F04B4DB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false_role_claim was actively harmful.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C3A8A-7C05-4545-B460-9344464B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A mixed policy underperformed because it included bad deception types.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7B5D4-AFA3-45DD-81D0-E1DA4F69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Stage 3 experiment report.</a:t>
            </a:r>
          </a:p>
        </p:txBody>
      </p:sp>
    </p:spTree>
    <p:extLst>
      <p:ext uri="{BB962C8B-B14F-4D97-AF65-F5344CB8AC3E}">
        <p14:creationId xmlns:p14="http://schemas.microsoft.com/office/powerpoint/2010/main" val="3628293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3666B6-1EA3-41F9-946C-D96E01FF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CREDIBILITY COSTS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6CF44-7CE5-4C53-9B48-BC39D75D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Deception only became plausible after costs were introduced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C47CF-FDE7-4535-B3DF-2F208EAB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79700-46EB-4639-A48C-70922163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40AFD-04A0-4821-B646-1B11158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11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38200" y="1752600"/>
          <a:ext xmlns:a="http://schemas.openxmlformats.org/drawingml/2006/main" cx="6477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e0edd49268402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717B9-232A-412D-A523-CF23B10D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4BAB4-1EF6-4B1A-A6F7-BB058FE8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Cost-free false accusation was too powerful.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BA5D8-0574-4776-9FA5-7C992115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Wrong accusations and repeated self-defense now raise suspicion and p_wolf.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A1E1E-1A71-4320-88C9-6FC3EE4A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The model moved from simple deception to credibility-constrained deception.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DD74D-F097-4425-9E11-D532D34E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Stage 3 report.</a:t>
            </a:r>
          </a:p>
        </p:txBody>
      </p:sp>
    </p:spTree>
    <p:extLst>
      <p:ext uri="{BB962C8B-B14F-4D97-AF65-F5344CB8AC3E}">
        <p14:creationId xmlns:p14="http://schemas.microsoft.com/office/powerpoint/2010/main" val="18676003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2343CD-C16A-4295-A296-8FFCD55E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SPEAKER-SPECIFIC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3111D-AA8D-45AF-AD31-A6AF3616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Credibility became reputation, not just global suspicion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F7A11-2495-4C70-89FE-81DD5093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8EEFE-0B3A-4128-B9A2-DB6FDBF7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7DAC3-C1BD-4408-AB50-A111D361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12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62000" y="1771650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a409546a684ff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B427C-B24F-4548-988F-61D4E838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Correct accusations increased trust in the speaker.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B1826-F31D-4426-8D29-9B671C7A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Wrong accusations reduced trust after outcome feedback.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69010-2117-4C1B-956E-DA08A551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Trust affected voting once the weight was strong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B1131-8811-4B73-9C98-D382EE84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Stage 4 experiment report.</a:t>
            </a:r>
          </a:p>
        </p:txBody>
      </p:sp>
    </p:spTree>
    <p:extLst>
      <p:ext uri="{BB962C8B-B14F-4D97-AF65-F5344CB8AC3E}">
        <p14:creationId xmlns:p14="http://schemas.microsoft.com/office/powerpoint/2010/main" val="16422252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B7D13F-8689-4230-8FB2-32AC31A3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TEN-PLAYER STRESS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5C25A-D222-4A83-AFCC-331018CB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larger setting preserved the main pattern but added noise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0B874-C2FA-413E-B0AF-07E995C4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9F625-FA00-40AA-9FC5-B4B3C905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8C9D6-54E6-4391-822C-E6004A78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13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8650" y="1752600"/>
          <a:ext xmlns:a="http://schemas.openxmlformats.org/drawingml/2006/main" cx="781050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8e2fa049d9454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9DDAC-07DA-4C2E-A72F-306172B9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476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The larger game made calibration matter: trust memory remained useful, while trust-weighted herding did not outperform memory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4A83F-1275-4AE9-ADF4-41A6DB3A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ten-player experiment report.</a:t>
            </a:r>
          </a:p>
        </p:txBody>
      </p:sp>
    </p:spTree>
    <p:extLst>
      <p:ext uri="{BB962C8B-B14F-4D97-AF65-F5344CB8AC3E}">
        <p14:creationId xmlns:p14="http://schemas.microsoft.com/office/powerpoint/2010/main" val="6798976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46C465-8367-4222-AF0A-A6DD6D58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RISK PREFERENCE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28565-3C58-4445-A4C8-7D23C6D0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Risk appetite changed collective resilience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1034B-7502-43A2-AC28-7C608340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06EBB-CA84-4435-9371-80E24391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CD68E-4C8D-4CF3-90F1-301844FB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14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23900" y="1771650"/>
          <a:ext xmlns:a="http://schemas.openxmlformats.org/drawingml/2006/main" cx="723900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85fe23ba6d40d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F26EE-7C08-4E08-B07B-D0716683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571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91914-4DD6-4D95-8D65-D5618227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812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B8A6"/>
                </a:solidFill>
              </a:defRPr>
            </a:pPr>
            <a:r>
              <a:rPr sz="2400" b="1">
                <a:solidFill>
                  <a:srgbClr val="14B8A6"/>
                </a:solidFill>
              </a:rPr>
              <a:t>61.44%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F2B88-FB0C-411E-9A5C-C881AF9B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Village wins under conservative-majority trust memory.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E2D5A-382C-4BA4-8778-462A55D2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5717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D6E3F-80A1-485E-9FB9-BF9218B9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05200"/>
            <a:ext cx="2152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</a:defRPr>
            </a:pPr>
            <a:r>
              <a:rPr sz="2400" b="1">
                <a:solidFill>
                  <a:srgbClr val="F59E0B"/>
                </a:solidFill>
              </a:rPr>
              <a:t>49.04%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295BC-05BE-4AE3-9704-B7082178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95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Village wins under aggressive-majority trust memory.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DAB9B-5232-45F2-B530-300B122A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risk preference experiment report.</a:t>
            </a:r>
          </a:p>
        </p:txBody>
      </p:sp>
    </p:spTree>
    <p:extLst>
      <p:ext uri="{BB962C8B-B14F-4D97-AF65-F5344CB8AC3E}">
        <p14:creationId xmlns:p14="http://schemas.microsoft.com/office/powerpoint/2010/main" val="14159245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2958E7-1B4A-4DED-9048-350B21B9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POSITION THEORY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72C9E-2561-4CF5-9EB6-12F6FBB6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Position Theory Became a Research Chapter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5BCCB-718B-476A-A593-327CE34A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</a:defRPr>
            </a:pPr>
            <a:r>
              <a:rPr sz="1875" b="0">
                <a:solidFill>
                  <a:srgbClr val="CBD5E1"/>
                </a:solidFill>
              </a:rPr>
              <a:t>A folk heuristic was converted into randomized tests and game-level 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2AA26-2A7D-4BAC-B86E-259D95E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9D28F-6C6A-4BCC-B1EE-CD19DABD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3C5E5-EAA0-4408-844F-7D50A75E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Initial belief: edge seats may reveal wolf structure earlier.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492B1-F63F-49B0-AB7F-6FE52F28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Initial design: compare edge, inner, random, behavioral, and side-based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61614-23FB-4E1E-8E6A-D29BA443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Problem discovered: fixed role placement could confound seat and role.</a:t>
            </a:r>
          </a:p>
        </p:txBody>
      </p:sp>
    </p:spTree>
    <p:extLst>
      <p:ext uri="{BB962C8B-B14F-4D97-AF65-F5344CB8AC3E}">
        <p14:creationId xmlns:p14="http://schemas.microsoft.com/office/powerpoint/2010/main" val="5736887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53AE70-5317-4498-9D57-2C13EE23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FIXED-ROLE POSITION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699F4-2D5C-4AE6-876A-EE883D93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early position results were suggestive but confounded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AC287-7427-497F-BF15-D070EF7D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E6F5C-9E85-4076-A8B1-9576CAB7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A4CDD-3A7F-4C72-BA87-642AAA75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16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752600"/>
          <a:ext xmlns:a="http://schemas.openxmlformats.org/drawingml/2006/main" cx="7381875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e593a2b400444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ABE5C-BF6D-4FFF-A3FB-794F3504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240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Behavioral p_wolf checking looked best in the fixed-role setup.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3B9B3-DA85-4C9A-B6D9-D90B0B8A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289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Edge-first improved over default but did not dominate.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E6022-98BF-4348-984A-B0904104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Because roles repeatedly occupied the same seats, position and role were entangled.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9B0B5-FE19-4484-921B-35661A34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seer position experiment report.</a:t>
            </a:r>
          </a:p>
        </p:txBody>
      </p:sp>
    </p:spTree>
    <p:extLst>
      <p:ext uri="{BB962C8B-B14F-4D97-AF65-F5344CB8AC3E}">
        <p14:creationId xmlns:p14="http://schemas.microsoft.com/office/powerpoint/2010/main" val="9291598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163BF-1E02-4CDF-B35A-D02DD34D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RANDOMIZED ROLE-SEAT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57D20-AECE-45AF-84F8-9F451CAF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Edge seats were not intrinsically wolf-heavy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34728-F4F1-49A3-9BA2-3648D8ED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CD624-E793-4F49-873F-03A49F33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F9A38-6A16-4446-B956-E3CA853B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17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57250" y="1771650"/>
          <a:ext xmlns:a="http://schemas.openxmlformats.org/drawingml/2006/main" cx="6096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9e783331ee485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BA94D-EA1D-4ED0-8417-00AC64AA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2EF16-5EC3-46F8-883E-EFA442A6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240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BDF8"/>
                </a:solidFill>
              </a:defRPr>
            </a:pPr>
            <a:r>
              <a:rPr sz="2400" b="1">
                <a:solidFill>
                  <a:srgbClr val="38BDF8"/>
                </a:solidFill>
              </a:rPr>
              <a:t>30.23%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A88AC-BE38-43E3-8E2B-F542435B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Observed edge-seat wolf probability.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69EDE-BB05-4408-9835-89CCCAB1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4765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71147-967C-4A02-A361-9ECAFF7F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B8A6"/>
                </a:solidFill>
              </a:defRPr>
            </a:pPr>
            <a:r>
              <a:rPr sz="2400" b="1">
                <a:solidFill>
                  <a:srgbClr val="14B8A6"/>
                </a:solidFill>
              </a:rPr>
              <a:t>29.85%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58B3D-A3D9-4FE0-8F0E-894D626F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Observed inner-seat wolf probability.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176FF-FDB8-443B-AB97-4D954DF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The strong version of edge theory was rejected: randomized seats match the 30% expectation.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6ABA5-39F3-4630-8C48-5D17222F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game-level analysis of randomized-role seer position experiment.</a:t>
            </a:r>
          </a:p>
        </p:txBody>
      </p:sp>
    </p:spTree>
    <p:extLst>
      <p:ext uri="{BB962C8B-B14F-4D97-AF65-F5344CB8AC3E}">
        <p14:creationId xmlns:p14="http://schemas.microsoft.com/office/powerpoint/2010/main" val="6759275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803D6E-8153-4D41-A5F3-6C4C3C2E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FORMAL EDGE-PRIORITY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7FD5F-2178-4435-8722-98CFEBC5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Edge-first was not decisively better than random or inner-first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90261-D2F4-4407-8C3C-7B11BB6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32749-E696-4042-9DC0-BCEC58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A7CF6-D218-4270-80B7-393938DE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74A7B-D557-441E-A1EC-1AC2DDBB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2857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50A58-B680-4592-892D-B3235774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</a:defRPr>
            </a:pPr>
            <a:r>
              <a:rPr sz="2400" b="1">
                <a:solidFill>
                  <a:srgbClr val="F59E0B"/>
                </a:solidFill>
              </a:rPr>
              <a:t>OR 1.05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D0E39-F8B7-44FA-A1FE-11EF522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edge_first vs random after adjustment; p = 0.417.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B3461-D95A-4B51-8BC3-00CFA952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2857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F80C9-2B34-475A-8484-BB6BD306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</a:defRPr>
            </a:pPr>
            <a:r>
              <a:rPr sz="2400" b="1">
                <a:solidFill>
                  <a:srgbClr val="F59E0B"/>
                </a:solidFill>
              </a:rPr>
              <a:t>0.24 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0AA2D-CBE3-467E-A98E-4D05DB65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243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edge_first vs inner_first wolf-rate difference across seeds.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8D1A0-6452-4CDD-82C7-BE1AF0B3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3143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9F240-0527-445B-9AA6-D80199E5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240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11D48"/>
                </a:solidFill>
              </a:defRPr>
            </a:pPr>
            <a:r>
              <a:rPr sz="2400" b="1">
                <a:solidFill>
                  <a:srgbClr val="E11D48"/>
                </a:solidFill>
              </a:rPr>
              <a:t>Holm p = 1.000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E0AC0-6DF3-473F-9E69-C5319AC8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384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Pairwise edge comparisons did not survive correction.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841A7-8474-41B0-A46D-99CAA62A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Edge-first remained better than default in the adjusted model.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813DF-0B3C-4B75-9C92-3510855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It did not retain an independent advantage over random or inner-first.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D386C-FCC7-441C-B427-746D2E1C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Conclusion changed: seat category is a heuristic prior, not standalone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125B9-0033-4F3D-BA6D-9AF15009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Sources: randomized-role statistical analysis and game-level analysis reports.</a:t>
            </a:r>
          </a:p>
        </p:txBody>
      </p:sp>
    </p:spTree>
    <p:extLst>
      <p:ext uri="{BB962C8B-B14F-4D97-AF65-F5344CB8AC3E}">
        <p14:creationId xmlns:p14="http://schemas.microsoft.com/office/powerpoint/2010/main" val="6670321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AD32E8-A0E1-4FB7-9A33-011CB9A3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GAME-LEVEL LOGGING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E09B8-A89D-407B-A805-3C9BDB23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Aggregate win rates were not enough to explain the 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30940-AE63-443C-95D5-770E02FE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EE43E-18E1-4D2D-8408-5ABB42F9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01022-200A-439F-8D53-A9672481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19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38200" y="1771650"/>
          <a:ext xmlns:a="http://schemas.openxmlformats.org/drawingml/2006/main" cx="619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6943e1064e4e4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C3A0A-92A1-43EA-8F3C-B969A9A1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295275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BC211-8C8D-4ABD-A343-5EE83E08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526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B8A6"/>
                </a:solidFill>
              </a:defRPr>
            </a:pPr>
            <a:r>
              <a:rPr sz="2400" b="1">
                <a:solidFill>
                  <a:srgbClr val="14B8A6"/>
                </a:solidFill>
              </a:rPr>
              <a:t>OR 1.76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14773-FF13-4989-984E-75A871E4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Adjusted association with village victory; 95% CI 1.65-1.88, p &lt; 0.001.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5E046-CC0E-48FE-B3DE-ACE777A6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433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This is a strong predictive association, not proof of a randomized causal effect.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99439-3DFA-4400-BCCD-F15E8B77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game-level analysis report.</a:t>
            </a:r>
          </a:p>
        </p:txBody>
      </p:sp>
    </p:spTree>
    <p:extLst>
      <p:ext uri="{BB962C8B-B14F-4D97-AF65-F5344CB8AC3E}">
        <p14:creationId xmlns:p14="http://schemas.microsoft.com/office/powerpoint/2010/main" val="20922966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07DAC-867B-4001-80D7-C8683E3C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REVISED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DB314-4395-4042-8B13-0A501F0C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mechanism shifted from seat category to information acquisition speed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72AF9-6ACC-420B-9D66-7E59D4D8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32444-9AEF-4E04-8E84-23E0AE5E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BE267-0155-4CDB-BA38-26240867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85EFF-F0B1-4DCB-8735-83D2DD8C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2669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34380-FE5E-4517-AD28-2B78EAF7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Initial theory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53346-BABA-4BB0-8229-C217E4F6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1885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Edge seats may be structurally risky.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4CB41-1167-4426-9046-C1BA3961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146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8BDF8"/>
                </a:solidFill>
              </a:defRPr>
            </a:pPr>
            <a:r>
              <a:rPr sz="1950" b="1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4AAF4-68E4-4338-A7D0-99FF0BC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22669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D0966-B2D4-4125-AF9C-77FD0F06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Validation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73DBA-D7C8-408A-8FD7-944EDB72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1885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Edges are not wolf-heavy after randomization.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83D97-6DCD-4D99-B3E9-82B33DB5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146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8BDF8"/>
                </a:solidFill>
              </a:defRPr>
            </a:pPr>
            <a:r>
              <a:rPr sz="1950" b="1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601FB-79C0-462A-9D09-69366D6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2669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FBB67-8AB8-4838-8ABC-1C7B7CDE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Mechanism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92A66-1218-40CA-9455-D1B4DEEA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1885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Early wolf discovery predicts village victory.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6C268-75B1-429F-B7EA-BA45752B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8BDF8"/>
                </a:solidFill>
              </a:defRPr>
            </a:pPr>
            <a:r>
              <a:rPr sz="1950" b="1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976FC-6D99-483C-B4EF-0A20927E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2669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3D5CF-DC4F-4CC7-AB83-7524954D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New hypothesis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B5C1D-A421-4178-BD35-53E6F8BF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14650"/>
            <a:ext cx="1885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Search-path structure may improve information acquisition.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E1D896-034E-4418-9F21-10115CFE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Sources: randomized-role game-level analysis and structured seer search report.</a:t>
            </a:r>
          </a:p>
        </p:txBody>
      </p:sp>
    </p:spTree>
    <p:extLst>
      <p:ext uri="{BB962C8B-B14F-4D97-AF65-F5344CB8AC3E}">
        <p14:creationId xmlns:p14="http://schemas.microsoft.com/office/powerpoint/2010/main" val="5859217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0B7197-F72D-443C-868D-E3CFC69E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</a:defRPr>
            </a:pPr>
            <a:r>
              <a:rPr sz="1350" b="1">
                <a:solidFill>
                  <a:srgbClr val="38BDF8"/>
                </a:solidFill>
              </a:rPr>
              <a:t>STRUCTURED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8401E-31B5-4279-9EEF-740D5FC3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Structured Sequential Search Tested the New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22691-80A5-497E-AD0E-12430599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</a:defRPr>
            </a:pPr>
            <a:r>
              <a:rPr sz="1875" b="0">
                <a:solidFill>
                  <a:srgbClr val="CBD5E1"/>
                </a:solidFill>
              </a:rPr>
              <a:t>The seer experiment moved from where to look toward how to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2B4CE-3EED-4252-850B-EDAE9EDB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2FCED-8A27-482F-8F05-69ACD6A4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993298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975AF8-79F5-47DA-B0A3-24ED2E44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STRUCTURED SEARCH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19170-C374-47F4-89A0-32BBFC8E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Four strategy families were compared across 35,000 games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0EB7D-718B-4B0F-AE13-35DD759E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B80B1-B837-49C3-A855-38D1D51F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F6086-4524-407D-B8DE-82F75502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B1A8C-697D-4CA6-91BB-476773BD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D26FB-D40B-4E4D-A6F9-CD543F59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random, default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E7513-7590-4DD2-86C7-00FF21E6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FC2B4-15FE-4DFC-BF3C-86537E66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03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edge_first, inner_first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17278-61BF-47B3-8FC7-8C73A07E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Behavioral exploitation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E6A3B-F969-4087-99DA-A154C221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highest_p_wolf, highest_suspicion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2F502-CEB8-4A81-A2BC-93C7D14F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Structured diversification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5A27B-AEF6-429D-8989-E4563DE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624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left_to_right, right_to_left, alternate_sides, nearest_first, farthest_first, coverage_balanced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24B49-9BF6-434E-9B8C-2E24446C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Hybrid proxy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D551A-A5F0-4F33-B1A0-6B9CB88D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4345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hybrid_suspicion_position, information_gain_proxy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C30A5-F01B-4F0E-B3FA-63A52B8D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0955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BBA0C-BD8B-48FD-A215-2D0C67B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482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BDF8"/>
                </a:solidFill>
              </a:defRPr>
            </a:pPr>
            <a:r>
              <a:rPr sz="2400" b="1">
                <a:solidFill>
                  <a:srgbClr val="38BDF8"/>
                </a:solidFill>
              </a:rPr>
              <a:t>35,000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2C9F0-858E-42BB-A439-3AB4CEAF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625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Game-level rows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A74CE-BA62-49FE-BE3F-B0143641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structured seer search experiment report.</a:t>
            </a:r>
          </a:p>
        </p:txBody>
      </p:sp>
    </p:spTree>
    <p:extLst>
      <p:ext uri="{BB962C8B-B14F-4D97-AF65-F5344CB8AC3E}">
        <p14:creationId xmlns:p14="http://schemas.microsoft.com/office/powerpoint/2010/main" val="18424220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B6FBAA-C70B-4DA7-98EA-9DD0E992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STRUCTURED SEARCH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C97BD-88F5-4FE7-A7B0-1999831D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descriptive ranking favored diversified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880C2-6335-4AC1-BAA5-4312381D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91650-9E36-482E-921C-1359472D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9CF4D-BAB6-4B83-AF02-53E44813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23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23900" y="1714500"/>
          <a:ext xmlns:a="http://schemas.openxmlformats.org/drawingml/2006/main" cx="7429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6079da584b407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D6D0D-6B6A-49F1-A705-07CE5CD1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alternate_sides was descriptively highest.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B76A1-C886-4464-A038-009ADCC7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right_to_left was close behind.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CA1E1-8F97-467B-B77C-E50C1D29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Suspicion-only checking was substantially worse.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AD64A-7507-46C4-9478-F8AF2297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Sources: structured search strategy summary and statistical report.</a:t>
            </a:r>
          </a:p>
        </p:txBody>
      </p:sp>
    </p:spTree>
    <p:extLst>
      <p:ext uri="{BB962C8B-B14F-4D97-AF65-F5344CB8AC3E}">
        <p14:creationId xmlns:p14="http://schemas.microsoft.com/office/powerpoint/2010/main" val="14362579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46A1D8-C709-41A0-931A-BFDCC03C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STATISTICAL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605B7-AF16-4E45-BBB5-28BDDD6D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ranking was promising, but the strongest supported result was negative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76762-DB6B-44FC-A9F1-DAA3FD98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DD242-C1E8-48D0-BBFF-D6401BF2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F95E7-80D5-4EFF-BC5C-97D4D26C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7DD27-179E-4B0C-B808-EADF57A4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6479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6AA7F-32BE-4198-89C0-BD22667E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8BDF8"/>
                </a:solidFill>
              </a:defRPr>
            </a:pPr>
            <a:r>
              <a:rPr sz="2400" b="1">
                <a:solidFill>
                  <a:srgbClr val="38BDF8"/>
                </a:solidFill>
              </a:rPr>
              <a:t>LR = 118.69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95371-73E9-43C1-BD89-53528A48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Overall strategy effect; p = 3.649e-19.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685DB-0DE7-4C77-8B18-3D3CA3F6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14500"/>
            <a:ext cx="26479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E4C7D-C916-45D7-BC4C-D19C3105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8595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</a:defRPr>
            </a:pPr>
            <a:r>
              <a:rPr sz="2400" b="1">
                <a:solidFill>
                  <a:srgbClr val="F59E0B"/>
                </a:solidFill>
              </a:rPr>
              <a:t>Holm p = 0.055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BA92C-AC16-4FDE-B7AC-93BE0DA3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03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alternate_sides vs random did not survive correction.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223E1-5230-4E73-B683-134B034A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14500"/>
            <a:ext cx="31432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BC054-E8D2-4FDD-AFCF-B14919AA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59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11D48"/>
                </a:solidFill>
              </a:defRPr>
            </a:pPr>
            <a:r>
              <a:rPr sz="2400" b="1">
                <a:solidFill>
                  <a:srgbClr val="E11D48"/>
                </a:solidFill>
              </a:rPr>
              <a:t>Holm p = 0.000276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57C73-1EDD-450B-A8D2-2B608FA3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highest_p_wolf and highest_suspicion were worse than random.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9ADF2-92C4-4FA9-9200-88D1B107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Descriptive superiority is not the same as confirmed superiority.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012B5-2CBC-4790-9BA2-915C9AC0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Positive structured-search contrasts were suggestive but statistically uncertain.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256AC-A794-4565-BC5D-00181B24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Behavioral exploitation strategies were statistically worse than random.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789C1-584D-4A77-8A13-3C176C71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structured seer search statistical analysis report.</a:t>
            </a:r>
          </a:p>
        </p:txBody>
      </p:sp>
    </p:spTree>
    <p:extLst>
      <p:ext uri="{BB962C8B-B14F-4D97-AF65-F5344CB8AC3E}">
        <p14:creationId xmlns:p14="http://schemas.microsoft.com/office/powerpoint/2010/main" val="370545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B23F67-E50F-4661-B775-36BD3582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EXPLOITATION VS DIVERSIFICATION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2C519-4B6A-49D2-8374-87222F3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Overusing risk scores narrowed search without improving information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BF71D-D3D5-4C3A-B357-54E1D8F2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AEFD4-CDA2-402C-8A9E-B0ADE113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1D0C5-EADC-4094-AA63-1AB2B926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25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047750" y="1809750"/>
          <a:ext xmlns:a="http://schemas.openxmlformats.org/drawingml/2006/main" cx="6286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f98b09203c40d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8FB24-4240-42EB-84C3-5E411ABB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85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B721C-58A5-4C54-AEA1-A44B8599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003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Suspicion-only strategies did not improve first-check discovery.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C92F5-89DE-4A54-8950-9754DF07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480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They also reduced seer survival in the current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9428B-3584-4745-AA61-1DA3C663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957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The evidence suggests an exploration-exploitation tradeoff.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E0211-853B-4DB1-B402-3CB7335F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exploitation_vs_diversification.csv and structured analysis report.</a:t>
            </a:r>
          </a:p>
        </p:txBody>
      </p:sp>
    </p:spTree>
    <p:extLst>
      <p:ext uri="{BB962C8B-B14F-4D97-AF65-F5344CB8AC3E}">
        <p14:creationId xmlns:p14="http://schemas.microsoft.com/office/powerpoint/2010/main" val="128844959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FD45A7-7ED6-4F56-8E52-48C829CD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UNEXPECTED ASYMMETRY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0984C-FF4E-44A6-8F76-06E95382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 directional gap became a validity problem, not a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2F916-038E-4B00-8867-73F88B52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9A608-2449-472E-870F-98B25C9C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94D16-F35F-42C3-8D4A-A04C984D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26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52500" y="1847850"/>
          <a:ext xmlns:a="http://schemas.openxmlformats.org/drawingml/2006/main" cx="5334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0b2fb39db6405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C98CE-F022-41DB-877F-0A2C4E19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right_to_left looked stronger, but this was not an original behavioral hypothesis.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6687C-D78C-4881-BBBE-241F8DE6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3714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A directional result can be scientific only after seat labels, player iteration, and tie-break rules are audited.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904FB-D966-4205-A5C2-67DB3E3B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structured seer search statistical analysis report.</a:t>
            </a:r>
          </a:p>
        </p:txBody>
      </p:sp>
    </p:spTree>
    <p:extLst>
      <p:ext uri="{BB962C8B-B14F-4D97-AF65-F5344CB8AC3E}">
        <p14:creationId xmlns:p14="http://schemas.microsoft.com/office/powerpoint/2010/main" val="10904020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81B841-BD1E-44CE-B848-177B459F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SEAT-ORDER CODE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E3FDD-AD0D-4D64-A4FA-35B59463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Several mechanisms can depend on displayed numeric labels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E4CB1-EEEB-4778-8834-88BF92A5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DA960-3794-4930-85CB-3B69B085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ADA91-6F09-4C19-8804-AEDBC0D6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FDCA0-35C2-41CB-96FC-CCC5B43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30480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216DE-B5F1-462D-A0C5-F65EA5DB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Ascending player 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52E76-E7A3-4E4E-9441-699465E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Speech and voting inherit player order.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5BB9E-C22A-4B8B-9909-55A1F118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71650"/>
            <a:ext cx="30480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94D8A-D7A0-48D0-B1D1-741F212B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621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Lower-ID tie-breaks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A3FA3-971C-497B-B03D-224A2DFA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241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Several seer strategies favor lower labels on ties.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EBD46-D4D8-485B-B488-692B39BC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0480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49879-A5F7-4310-8E0B-42D75125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621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Numeric side labels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9B0B5-8EFB-4CF7-B73A-FA3D08A4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241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Seats 1-5 are left; 6-10 are right.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5D87D-9D10-430B-86B6-5D5F92C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30480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1424C-68DB-4E8C-A4AB-48C3B518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Stable sorting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8CA53-E0E2-467C-B13E-99A62DFF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Tied scores can preserve earlier list order.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E7F05-3FB8-4113-8D3E-07C84EC1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52800"/>
            <a:ext cx="304800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00C17-90C7-4EE2-BE90-2A5EF9D4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433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Speech RNG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9D363-ED1A-4510-8E25-6EABD499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player_id appears inside deterministic speech seeding.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97EDF-FA71-4B94-8C00-AFA62CE9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The audit does not invalidate earlier results. It defines what must be neutralized before interpreting direction.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442D9-940D-4980-84C5-39FF5247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seat-order asymmetry code audit.</a:t>
            </a:r>
          </a:p>
        </p:txBody>
      </p:sp>
    </p:spTree>
    <p:extLst>
      <p:ext uri="{BB962C8B-B14F-4D97-AF65-F5344CB8AC3E}">
        <p14:creationId xmlns:p14="http://schemas.microsoft.com/office/powerpoint/2010/main" val="30459602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C5C33-9794-420D-9E8D-59A38709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MIRROR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2AC67-D404-43C3-BFC1-9B496702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Mirroring labels did not create a clean counterfactual reversal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14444-A081-4BA4-8F36-242695AC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21FD8-D6F4-42EF-9A31-031E901A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E6421-4975-4C8E-8E0B-3851EE4E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28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781050" y="175260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e30386d53c4cf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30558-B10D-4ECD-ABE8-261BC5B5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26670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52DAE-070E-4B25-A33E-39CD0A13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</a:defRPr>
            </a:pPr>
            <a:r>
              <a:rPr sz="2400" b="1">
                <a:solidFill>
                  <a:srgbClr val="F59E0B"/>
                </a:solidFill>
              </a:rPr>
              <a:t>46%-53%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8622E-B321-42F6-9B62-E3CA3DAC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Paired outcome agreement range across strategies.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24F66-CAFF-454C-8EB8-4D8358CD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195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The right_to_left advantage did not simply reverse. Mirroring labels changed downstream game trajectories too much to treat as a clean counterfactual.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92CA9-F13A-4CD9-BA62-C44BDB28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Source: seat-order symmetry experiment report.</a:t>
            </a:r>
          </a:p>
        </p:txBody>
      </p:sp>
    </p:spTree>
    <p:extLst>
      <p:ext uri="{BB962C8B-B14F-4D97-AF65-F5344CB8AC3E}">
        <p14:creationId xmlns:p14="http://schemas.microsoft.com/office/powerpoint/2010/main" val="70790296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CC0AF-88E3-455E-A95F-21CF28B4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CURRENT SCIENTIFIC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1E1C0-503C-4D08-8B9F-B09576EA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project now separates supported conclusions from unresolved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94EE5-CBBB-43E3-B352-AEBB9D52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134ED-2AEE-49FE-8F76-72085A49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63E74-F24C-40BD-BAA8-D07DB258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AE7C6-72F3-4489-979B-D84097E0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3333750" cy="3714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98957-6E1F-45F1-9B76-F26F8FCB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B8A6"/>
                </a:solidFill>
              </a:defRPr>
            </a:pPr>
            <a:r>
              <a:rPr sz="1800" b="1">
                <a:solidFill>
                  <a:srgbClr val="14B8A6"/>
                </a:solidFill>
              </a:rPr>
              <a:t>Well supported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FE996-F3DD-4EBA-9707-63132957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- Information flow strongly affects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9545-7B7F-4CF4-BEDE-8DFC9D06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- Edge seats are not intrinsically wolf-heavy.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F96DE-D498-47F7-BB55-DDE1F5FD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- Early wolf discovery predicts village victory.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CB604-3860-4392-8E0A-39F7BB2F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- Seat-label/order dependencies exist.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3BA1A-F7E4-44D1-90CC-EEA4FE3B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3333750" cy="3714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E0A6EC-5ED9-45F0-A96F-3676954A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8BDF8"/>
                </a:solidFill>
              </a:defRPr>
            </a:pPr>
            <a:r>
              <a:rPr sz="1800" b="1">
                <a:solidFill>
                  <a:srgbClr val="38BDF8"/>
                </a:solidFill>
              </a:rPr>
              <a:t>Promising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95BFE-B37A-4F9E-84BA-39BA0462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95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- Structured sequential search may help.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978EA-29A9-4EFD-894B-B31BE407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- Diversified search may beat exploitation.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CDE19-FFF2-4463-A2AB-DBA8B66B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147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- alternate_sides and right_to_left deserve cleaner tests.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FBA4B-8971-4CD3-A351-F614D104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333750" cy="3714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C85C3-6D89-4F89-9240-028779B5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11D48"/>
                </a:solidFill>
              </a:defRPr>
            </a:pPr>
            <a:r>
              <a:rPr sz="1800" b="1">
                <a:solidFill>
                  <a:srgbClr val="E11D48"/>
                </a:solidFill>
              </a:rPr>
              <a:t>Not valid yet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B7303-1721-4923-9AE2-325840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95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- Right-to-left is inherently superior.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03B33-D85A-453A-BC14-F90D4A50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- Any seat direction has a true structural advantage.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48F1D-3C6E-45DD-B3A1-C87516C7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147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- Structured search is definitively better than random.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23E53-FBAB-468F-9C33-FBF77E63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Sources: randomized-role, structured-search, and mirror-validation reports.</a:t>
            </a:r>
          </a:p>
        </p:txBody>
      </p:sp>
    </p:spTree>
    <p:extLst>
      <p:ext uri="{BB962C8B-B14F-4D97-AF65-F5344CB8AC3E}">
        <p14:creationId xmlns:p14="http://schemas.microsoft.com/office/powerpoint/2010/main" val="15219747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1444B9-6286-4AC7-A7B9-5A4BB789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</a:defRPr>
            </a:pPr>
            <a:r>
              <a:rPr sz="1200" b="1">
                <a:solidFill>
                  <a:srgbClr val="38BDF8"/>
                </a:solidFill>
              </a:rPr>
              <a:t>NEXT EXPERIMENTAL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68FF4-43F0-4B5E-9BBD-0F169C9C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Build a seat-order-neutral engine and isolate search mechanisms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BF3DD-C123-4F22-B5B7-C97A3AC5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BE53D-634A-4348-9B7C-8A54DB6D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DURF Werewolf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2028A-8890-4AE8-8F80-861AB2AD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DAC29-0F00-4DA0-9F01-45B144BB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What must be neutralized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C8C99-630C-43EC-8B3D-EF35C64E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Lower-ID deterministic advantages.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A9068-0159-4BE2-B268-009F6627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Speech RNG dependence on displayed labels.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EB35B-1E07-4942-81A0-7DFFE770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Player iteration order effects.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73F2F-F0E0-457A-9751-37E5CAEB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Direction tied to numeric seat labels.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059B5-6305-4EB2-B64E-AA3F1736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What should be retested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7C35B-FA0A-427C-9E84-EBE0A452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28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left_to_right vs right_to_left.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3618A-7612-4AB5-BCF0-C12DB495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alternate_sides vs random.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A8163-C583-4A0E-87A8-431D2BEC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Structured diversification vs exploitation.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143F0-26DC-4252-A5F1-9F23A94B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Paired random streams under cleaner counterfactuals.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8766B-A2CC-443A-93F1-DD713638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Final research question: how should a bounded-information agent allocate sequential checks under uncertainty?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02470-D447-4D6F-B50E-08855557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Sources: seat-order code audit and mirror validation report.</a:t>
            </a:r>
          </a:p>
        </p:txBody>
      </p:sp>
    </p:spTree>
    <p:extLst>
      <p:ext uri="{BB962C8B-B14F-4D97-AF65-F5344CB8AC3E}">
        <p14:creationId xmlns:p14="http://schemas.microsoft.com/office/powerpoint/2010/main" val="1817849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2026-07-21T12:24:21.9030000Z</dcterms:created>
  <dcterms:modified xsi:type="dcterms:W3CDTF">2026-07-21T12:24:21.9030000Z</dcterms:modified>
</coreProperties>
</file>